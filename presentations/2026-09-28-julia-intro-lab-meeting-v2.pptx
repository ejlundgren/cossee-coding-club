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6"/>
    <p:sldId id="269" r:id="rId5"/>
    <p:sldId id="270" r:id="rId4"/>
  </p:sldIdLst>
  <p:notesMasterIdLst>
    <p:notesMasterId r:id="rId1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4" Type="http://schemas.openxmlformats.org/officeDocument/2006/relationships/slide" Target="slides/slide15.xml"/><Relationship Id="rId5" Type="http://schemas.openxmlformats.org/officeDocument/2006/relationships/slide" Target="slides/slide14.xml"/><Relationship Id="rId6" Type="http://schemas.openxmlformats.org/officeDocument/2006/relationships/slide" Target="slides/slide1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ayout>
        <c:manualLayout>
          <c:layoutTarget val="inner"/>
          <c:xMode val="edge"/>
          <c:yMode val="edge"/>
          <c:x val="0.22"/>
          <c:y val="0.02"/>
          <c:w val="0.66"/>
          <c:h val="0.96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milliseconds</c:v>
                </c:pt>
              </c:strCache>
            </c:strRef>
          </c:tx>
          <c:dPt>
            <c:idx val="0"/>
            <c:spPr>
              <a:solidFill>
                <a:srgbClr val="9FB6BC"/>
              </a:solidFill>
              <a:ln>
                <a:noFill/>
              </a:ln>
            </c:spPr>
          </c:dPt>
          <c:dPt>
            <c:idx val="1"/>
            <c:spPr>
              <a:solidFill>
                <a:srgbClr val="9FB6BC"/>
              </a:solidFill>
              <a:ln>
                <a:noFill/>
              </a:ln>
            </c:spPr>
          </c:dPt>
          <c:dPt>
            <c:idx val="2"/>
            <c:spPr>
              <a:solidFill>
                <a:srgbClr val="F4B324"/>
              </a:solidFill>
              <a:ln>
                <a:noFill/>
              </a:ln>
            </c:spPr>
          </c:dPt>
          <c:dPt>
            <c:idx val="3"/>
            <c:spPr>
              <a:solidFill>
                <a:srgbClr val="0E6B7C"/>
              </a:solidFill>
              <a:ln>
                <a:noFill/>
              </a:ln>
            </c:spPr>
          </c:dPt>
          <c:dPt>
            <c:idx val="5"/>
            <c:spPr>
              <a:solidFill>
                <a:srgbClr val="9FB6BC"/>
              </a:solidFill>
              <a:ln>
                <a:noFill/>
              </a:ln>
            </c:spPr>
          </c:dPt>
          <c:dPt>
            <c:idx val="6"/>
            <c:spPr>
              <a:solidFill>
                <a:srgbClr val="9FB6BC"/>
              </a:solidFill>
              <a:ln>
                <a:noFill/>
              </a:ln>
            </c:spPr>
          </c:dPt>
          <c:dPt>
            <c:idx val="7"/>
            <c:spPr>
              <a:solidFill>
                <a:srgbClr val="F4B324"/>
              </a:solidFill>
              <a:ln>
                <a:noFill/>
              </a:ln>
            </c:spPr>
          </c:dPt>
          <c:cat>
            <c:strRef>
              <c:f>Sheet1!$A$2:$A$9</c:f>
              <c:strCache>
                <c:ptCount val="8"/>
                <c:pt idx="0">
                  <c:v>R loop</c:v>
                </c:pt>
                <c:pt idx="1">
                  <c:v>Python loop</c:v>
                </c:pt>
                <c:pt idx="2">
                  <c:v>Julia loop</c:v>
                </c:pt>
                <c:pt idx="3">
                  <c:v>C loop</c:v>
                </c:pt>
                <c:pt idx="4">
                  <c:v> </c:v>
                </c:pt>
                <c:pt idx="5">
                  <c:v>R sum()</c:v>
                </c:pt>
                <c:pt idx="6">
                  <c:v>NumPy sum()</c:v>
                </c:pt>
                <c:pt idx="7">
                  <c:v>Julia sum()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180</c:v>
                </c:pt>
                <c:pt idx="1">
                  <c:v>134</c:v>
                </c:pt>
                <c:pt idx="2">
                  <c:v>10</c:v>
                </c:pt>
                <c:pt idx="3">
                  <c:v>10</c:v>
                </c:pt>
                <c:pt idx="5">
                  <c:v>17</c:v>
                </c:pt>
                <c:pt idx="6">
                  <c:v>2.2</c:v>
                </c:pt>
                <c:pt idx="7">
                  <c:v>1.9</c:v>
                </c:pt>
              </c:numCache>
            </c:numRef>
          </c:val>
        </c:ser>
        <c:dLbls>
          <c:numFmt formatCode="General&quot; ms&quot;" sourceLinked="0"/>
          <c:txPr>
            <a:bodyPr/>
            <a:lstStyle/>
            <a:p>
              <a:pPr>
                <a:defRPr sz="1800" b="1">
                  <a:solidFill>
                    <a:srgbClr val="13262B"/>
                  </a:solidFill>
                  <a:latin typeface="Calibr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45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800">
                <a:solidFill>
                  <a:srgbClr val="13262B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215.0"/>
          <c:min val="0.0"/>
        </c:scaling>
        <c:delete val="0"/>
        <c:axPos val="b"/>
        <c:majorTickMark val="none"/>
        <c:minorTickMark val="none"/>
        <c:tickLblPos val="none"/>
        <c:spPr>
          <a:ln>
            <a:noFill/>
          </a:ln>
        </c:spPr>
        <c:crossAx val="-2068027336"/>
        <c:crosses val="autoZero"/>
      </c:valAx>
    </c:plotArea>
    <c:dispBlanksAs val="gap"/>
  </c:chart>
  <c:txPr>
    <a:bodyPr/>
    <a:lstStyle/>
    <a:p>
      <a:pPr>
        <a:defRPr sz="1800">
          <a:latin typeface="Calibri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About fifteen minutes on Julia itself; the game comes only at the very end.</a:t>
            </a:r>
          </a:p>
          <a:p>
            <a:r>
              <a:t>One promise: every number today is one I measured on my own Mac this week.</a:t>
            </a:r>
          </a:p>
          <a:p>
            <a:r>
              <a:t>The tagline to remember: write it like R, run it like 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Work began in 2009. It went public in February 2012 with a blog post by Jeff Bezanson, Stefan Karpinski, Viral Shah and Alan Edelman.</a:t>
            </a:r>
          </a:p>
          <a:p>
            <a:r>
              <a:t>Their word was greedy: they wanted C's speed, R's ease for statistics and Python's general use, in one open-source language.</a:t>
            </a:r>
          </a:p>
          <a:p>
            <a:r>
              <a:t>Version 1.0 in August 2018 was the promise that code you write now keeps working.</a:t>
            </a:r>
          </a:p>
          <a:p>
            <a:r>
              <a:t>Two versions to know: 1.10 is the long-term-support release (our game uses it); 1.13.0 is the newest, released 9 September.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Quick show of hands: who has waited a long time for an R loop to finish?</a:t>
            </a:r>
          </a:p>
          <a:p>
            <a:r>
              <a:t>C and C++ are older languages that run very fast but are hard to write. The usual path: try the idea in R or Python, find the slow part, and have someone rewrite it in C or C++.</a:t>
            </a:r>
          </a:p>
          <a:p>
            <a:r>
              <a:t>Many packages we use every day work this way: lme4 and glmmTMB are C++ underneath R.</a:t>
            </a:r>
          </a:p>
          <a:p>
            <a:r>
              <a:t>Julia's bet: one language that is easy to write and also fast, so you never need the rewrite.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One tiny, fair job: add up ten million numbers. One thread, same machine, the median of repeated runs.</a:t>
            </a:r>
          </a:p>
          <a:p>
            <a:r>
              <a:t>Plain loops first: R 180 ms, Python 134 ms, Julia 10 ms, and C 10 ms. The Julia loop runs at C speed: 18 times R, 13 times Python.</a:t>
            </a:r>
          </a:p>
          <a:p>
            <a:r>
              <a:t>Built-in sums: R 17 ms, NumPy 2.2 ms, Julia 1.9 ms. R and Python are fast only when they hand the work to C; Julia's own sum() is written in Julia.</a:t>
            </a:r>
          </a:p>
          <a:p>
            <a:r>
              <a:t>Honest scope: one machine, one small task. Read the ratios; the milliseconds depend on the machine.</a:t>
            </a:r>
          </a:p>
          <a:p>
            <a:r>
              <a:t>For later: Julia is fast because it translates each function into machine code the first time you run it, so the first run is a little slow and later runs are quick.</a:t>
            </a:r>
          </a:p>
          <a:p>
            <a:r>
              <a:t>For later: I also timed a bootstrap (10,000 means of 1,000 values). Julia's plain loop took 36 ms, R's loop 186 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 on top, Julia below, every time.</a:t>
            </a:r>
          </a:p>
          <a:p>
            <a:r>
              <a:t>Square brackets make a vector, no c(). Julia counts from 1 like R; Python counts from 0.</a:t>
            </a:r>
          </a:p>
          <a:p>
            <a:r>
              <a:t>A one-line function looks like the maths: sq(v) = v^2.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one new habit for R users. Element means each number in the list.</a:t>
            </a:r>
          </a:p>
          <a:p>
            <a:r>
              <a:t>In R, x + 1 quietly works element by element. In Julia you say so with a dot: x .+ 1, x .== 4, sqrt.(x).</a:t>
            </a:r>
          </a:p>
          <a:p>
            <a:r>
              <a:t>Forget the dot and x == 4 asks whether the whole vector equals 4: false. Most of us trip on this first.</a:t>
            </a:r>
          </a:p>
          <a:p>
            <a:r>
              <a:t>The dot works on any function, including the sq we just wrote: sq.(x) gives 4, 16, 36.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library() becomes using.</a:t>
            </a:r>
          </a:p>
          <a:p>
            <a:r>
              <a:t>The dollar sign becomes a dot: df.mass, the mass column of the table df. Python users will know df["mass"].</a:t>
            </a:r>
          </a:p>
          <a:p>
            <a:r>
              <a:t>For later: the pipe |&gt; works too, as in R 4.1 and later.</a:t>
            </a:r>
          </a:p>
          <a:p>
            <a:r>
              <a:t>That is most of what you need to read Julia code on day 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Julia accepts Unicode names, so code can use the symbols from your equations.</a:t>
            </a:r>
          </a:p>
          <a:p>
            <a:r>
              <a:t>Type a backslash name and press Tab: \mu becomes μ; \sigma then \^2 gives σ². This works wherever you type Julia code.</a:t>
            </a:r>
          </a:p>
          <a:p>
            <a:r>
              <a:t>Use it where it helps the reader; plain names like sigma2 are fine too.</a:t>
            </a:r>
          </a:p>
          <a:p>
            <a:r>
              <a:t>Julia also picks a method from the types of all arguments; we skip that today.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What you could use on Monday.</a:t>
            </a:r>
          </a:p>
          <a:p>
            <a:r>
              <a:t>MixedModels.jl is by Douglas Bates, first author of lme4, so the formula syntax will feel like home: (1 | site).</a:t>
            </a:r>
          </a:p>
          <a:p>
            <a:r>
              <a:t>Turing for Bayesian models, DifferentialEquations for models of populations changing over time, Makie for figures.</a:t>
            </a:r>
          </a:p>
          <a:p>
            <a:r>
              <a:t>And RCall.jl lets you call R from inside Julia when a method only exists in 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formula language carries over: y ~ x + (1 | site) means the same thing in both.</a:t>
            </a:r>
          </a:p>
          <a:p>
            <a:r>
              <a:t>In Julia, load the packages first: using DataFrames, MixedModels. GLM.jl does lm() the same way.</a:t>
            </a:r>
          </a:p>
          <a:p>
            <a:r>
              <a:t>I ran the Julia line on simulated data (600 rows, 20 sites) and fitted the same data in R: it matches lme4 to six decimals, and a plain lm matches R's lm.</a:t>
            </a:r>
          </a:p>
          <a:p>
            <a:r>
              <a:t>One detail for later: MixedModels.jl fits by maximum likelihood by default, lme4 by REML. Add REML = true in Julia, or REML = FALSE in R, and they agree.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Two honest costs, so nobody is surprised on day one.</a:t>
            </a:r>
          </a:p>
          <a:p>
            <a:r>
              <a:t>First, the wait. Julia translates code into machine code before it runs it. After you install or update packages, it prepares them once: 37 s for DataFrames on my Mac. After that, loading it takes about a second, and the first call of a function is slower than the next (18 ms against 0.3 ms for a small summary by group).</a:t>
            </a:r>
          </a:p>
          <a:p>
            <a:r>
              <a:t>This has improved a lot: since Julia 1.9 (2023), the prepared package code is kept between sessions.</a:t>
            </a:r>
          </a:p>
          <a:p>
            <a:r>
              <a:t>Second, fewer packages than CRAN, especially for niche ecology methods. RCall.jl covers the gap.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Three places to start: the official manual at docs.julialang.org; Julia Data Science, a free online book by Storopoli, Huijzer and Alonso; and discourse.julialang.org for questions.</a:t>
            </a:r>
          </a:p>
          <a:p>
            <a:r>
              <a:t>The book now lives at juliadatascience.github.io/JuliaDataScience; the old juliadatascience.io address no longer hosts it.</a:t>
            </a:r>
          </a:p>
          <a:p>
            <a:r>
              <a:t>And you do not have to leave R: RCall.jl runs R code from inside Julia, and PythonCall.jl does the same for Python. Keep the R package you love; use Julia where speed matters.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Two slides on the game, then we play.</a:t>
            </a:r>
          </a:p>
          <a:p>
            <a:r>
              <a:t>Itchy's lab rears springtails, tiny relatives of the snow fleas seen on winter snow, in jars of damp leaf litter with mesh lids. Batch B09 is six jars on three trays, T-A, T-B and T-C, two jars per tray.</a:t>
            </a:r>
          </a:p>
          <a:p>
            <a:r>
              <a:t>Each jar got a two-minute look and one notebook row: springtails seen or not seen. Seen means at least one live, moving springtail turned up during the look; nobody counts them. Toto typed the tally sheet into the lab's table, read it as T-A 2 of 2 jars, T-B 2 of 2 jars, then T-C 0 jars, and reported: tray T-C, 0 jars with springtails; the springtails are dying out.</a:t>
            </a:r>
          </a:p>
          <a:p>
            <a:r>
              <a:t>Part 1 checks the report: 5 of 6 jars had springtails (T-A 2 of 2 jars, T-B 2 of 2 jars, T-C 1 of 2), and T-C's 0 was a blank box that Toto typed as 0. Part 2 plans a fair recheck and asks what plain chance gives: at 50:50, 5 or more of 6 comes up about 1 time in 9.</a:t>
            </a:r>
          </a:p>
          <a:p>
            <a:r>
              <a:t>Part 3 tests three guesses, and dying out almost never gives 5 of 6. So the springtails were never shown to be dying out, and the recheck is still to do. The data are simulated for this game.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Three steps: download the ZIP from the release page, install Julia 1.10, double-click the launcher for your computer.</a:t>
            </a:r>
          </a:p>
          <a:p>
            <a:r>
              <a:t>The code is the move: no points and no badges; each line of Julia that works moves the case forward.</a:t>
            </a:r>
          </a:p>
          <a:p>
            <a:r>
              <a:t>If setup prints anything other than OK, show me the last lines.</a:t>
            </a:r>
          </a:p>
          <a:p>
            <a:r>
              <a:t>For later, when you write your own Julia: install juliaup, Julia's version manager (one line from julialang.org on Mac or Linux, or the Microsoft Store on Windows); juliaup add 1.10 gives you the long-term-support version.</a:t>
            </a:r>
          </a:p>
          <a:p>
            <a:r>
              <a:t>For later, too: write code in VS Code with the Julia extension. In the REPL, the window where you type Julia, one key changes the mode: ] for packages, ? for help, ; for the shell; Backspace takes you back.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Thank you for sitting through my first call; like Julia, the next one will be faster.</a:t>
            </a:r>
          </a:p>
          <a:p>
            <a:r>
              <a:t>Write it like R, run it like C.</a:t>
            </a:r>
          </a:p>
          <a:p>
            <a:r>
              <a:t>Now open your laptops: let's play.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323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685800"/>
            <a:ext cx="5486400" cy="2926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600" b="1" i="0" spc="200">
                <a:solidFill>
                  <a:srgbClr val="F4B324"/>
                </a:solidFill>
                <a:latin typeface="Calibri"/>
              </a:rPr>
              <a:t>LAB MEETING · 28 SEPTEMBER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051560"/>
            <a:ext cx="5120640" cy="12344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8000" b="1" i="0">
                <a:solidFill>
                  <a:srgbClr val="FFFFFF"/>
                </a:solidFill>
                <a:latin typeface="Cambria"/>
              </a:rPr>
              <a:t>Julia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2331720"/>
            <a:ext cx="5120640" cy="5486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2800" b="0" i="1">
                <a:solidFill>
                  <a:srgbClr val="DCEBEE"/>
                </a:solidFill>
                <a:latin typeface="Cambria"/>
              </a:rPr>
              <a:t>Write it like R. Run it like C.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520440"/>
            <a:ext cx="5303520" cy="7772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Calibri"/>
              </a:rPr>
              <a:t>Shinichi Nakagawa · COSSEE, University of Alberta</a:t>
            </a:r>
          </a:p>
          <a:p>
            <a:pPr algn="l"/>
            <a:r>
              <a:rPr sz="1800" b="0" i="0">
                <a:solidFill>
                  <a:srgbClr val="A9C6CC"/>
                </a:solidFill>
                <a:latin typeface="Calibri"/>
              </a:rPr>
              <a:t>itchyshin@gmail.com · @itchyshin</a:t>
            </a:r>
          </a:p>
        </p:txBody>
      </p:sp>
      <p:sp>
        <p:nvSpPr>
          <p:cNvPr id="6" name="Oval 5"/>
          <p:cNvSpPr/>
          <p:nvPr/>
        </p:nvSpPr>
        <p:spPr>
          <a:xfrm>
            <a:off x="6903720" y="1143000"/>
            <a:ext cx="1188720" cy="1188720"/>
          </a:xfrm>
          <a:prstGeom prst="ellipse">
            <a:avLst/>
          </a:prstGeom>
          <a:solidFill>
            <a:srgbClr val="6CC0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Oval 6"/>
          <p:cNvSpPr/>
          <p:nvPr/>
        </p:nvSpPr>
        <p:spPr>
          <a:xfrm>
            <a:off x="6172200" y="2377440"/>
            <a:ext cx="1188720" cy="1188720"/>
          </a:xfrm>
          <a:prstGeom prst="ellipse">
            <a:avLst/>
          </a:prstGeom>
          <a:solidFill>
            <a:srgbClr val="E45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Oval 7"/>
          <p:cNvSpPr/>
          <p:nvPr/>
        </p:nvSpPr>
        <p:spPr>
          <a:xfrm>
            <a:off x="7635240" y="2377440"/>
            <a:ext cx="1188720" cy="1188720"/>
          </a:xfrm>
          <a:prstGeom prst="ellipse">
            <a:avLst/>
          </a:prstGeom>
          <a:solidFill>
            <a:srgbClr val="F4B3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8138160" cy="7772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2800" b="0" i="0">
                <a:solidFill>
                  <a:srgbClr val="13262B"/>
                </a:solidFill>
                <a:latin typeface="Cambria"/>
              </a:rPr>
              <a:t>Julia grew from a 2009 idea into a stable language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2258568"/>
            <a:ext cx="7315200" cy="45720"/>
          </a:xfrm>
          <a:prstGeom prst="rect">
            <a:avLst/>
          </a:prstGeom>
          <a:solidFill>
            <a:srgbClr val="DCEB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2011680" cy="6400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3400" b="1" i="0">
                <a:solidFill>
                  <a:srgbClr val="0E6B7C"/>
                </a:solidFill>
                <a:latin typeface="Cambria"/>
              </a:rPr>
              <a:t>2009</a:t>
            </a:r>
          </a:p>
        </p:txBody>
      </p:sp>
      <p:sp>
        <p:nvSpPr>
          <p:cNvPr id="5" name="Oval 4"/>
          <p:cNvSpPr/>
          <p:nvPr/>
        </p:nvSpPr>
        <p:spPr>
          <a:xfrm>
            <a:off x="1307592" y="2125980"/>
            <a:ext cx="310896" cy="310896"/>
          </a:xfrm>
          <a:prstGeom prst="ellipse">
            <a:avLst/>
          </a:prstGeom>
          <a:solidFill>
            <a:srgbClr val="0E6B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48640" y="2578608"/>
            <a:ext cx="1828800" cy="126187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2000" b="0" i="0">
                <a:solidFill>
                  <a:srgbClr val="13262B"/>
                </a:solidFill>
                <a:latin typeface="Calibri"/>
              </a:rPr>
              <a:t>Work on Julia begins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42032" y="1371600"/>
            <a:ext cx="2011680" cy="6400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3400" b="1" i="0">
                <a:solidFill>
                  <a:srgbClr val="0E6B7C"/>
                </a:solidFill>
                <a:latin typeface="Cambria"/>
              </a:rPr>
              <a:t>2012</a:t>
            </a:r>
          </a:p>
        </p:txBody>
      </p:sp>
      <p:sp>
        <p:nvSpPr>
          <p:cNvPr id="8" name="Oval 7"/>
          <p:cNvSpPr/>
          <p:nvPr/>
        </p:nvSpPr>
        <p:spPr>
          <a:xfrm>
            <a:off x="3392424" y="2125980"/>
            <a:ext cx="310896" cy="310896"/>
          </a:xfrm>
          <a:prstGeom prst="ellipse">
            <a:avLst/>
          </a:prstGeom>
          <a:solidFill>
            <a:srgbClr val="0E6B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2633472" y="2578608"/>
            <a:ext cx="1828800" cy="126187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2000" b="0" i="0">
                <a:solidFill>
                  <a:srgbClr val="13262B"/>
                </a:solidFill>
                <a:latin typeface="Calibri"/>
              </a:rPr>
              <a:t>Feb: the “Why We Created Julia” post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26864" y="1371600"/>
            <a:ext cx="2011680" cy="6400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3400" b="1" i="0">
                <a:solidFill>
                  <a:srgbClr val="0E6B7C"/>
                </a:solidFill>
                <a:latin typeface="Cambria"/>
              </a:rPr>
              <a:t>2018</a:t>
            </a:r>
          </a:p>
        </p:txBody>
      </p:sp>
      <p:sp>
        <p:nvSpPr>
          <p:cNvPr id="11" name="Oval 10"/>
          <p:cNvSpPr/>
          <p:nvPr/>
        </p:nvSpPr>
        <p:spPr>
          <a:xfrm>
            <a:off x="5477256" y="2125980"/>
            <a:ext cx="310896" cy="310896"/>
          </a:xfrm>
          <a:prstGeom prst="ellipse">
            <a:avLst/>
          </a:prstGeom>
          <a:solidFill>
            <a:srgbClr val="0E6B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4718304" y="2578608"/>
            <a:ext cx="1828800" cy="126187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2000" b="0" i="0">
                <a:solidFill>
                  <a:srgbClr val="13262B"/>
                </a:solidFill>
                <a:latin typeface="Calibri"/>
              </a:rPr>
              <a:t>Aug: version 1.0, a stable language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11696" y="1371600"/>
            <a:ext cx="2011680" cy="6400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3400" b="1" i="0">
                <a:solidFill>
                  <a:srgbClr val="F4B324"/>
                </a:solidFill>
                <a:latin typeface="Cambria"/>
              </a:rPr>
              <a:t>2026</a:t>
            </a:r>
          </a:p>
        </p:txBody>
      </p:sp>
      <p:sp>
        <p:nvSpPr>
          <p:cNvPr id="14" name="Oval 13"/>
          <p:cNvSpPr/>
          <p:nvPr/>
        </p:nvSpPr>
        <p:spPr>
          <a:xfrm>
            <a:off x="7562088" y="2125980"/>
            <a:ext cx="310896" cy="310896"/>
          </a:xfrm>
          <a:prstGeom prst="ellipse">
            <a:avLst/>
          </a:prstGeom>
          <a:solidFill>
            <a:srgbClr val="F4B3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6803136" y="2578608"/>
            <a:ext cx="1828800" cy="126187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2000" b="0" i="0">
                <a:solidFill>
                  <a:srgbClr val="13262B"/>
                </a:solidFill>
                <a:latin typeface="Calibri"/>
              </a:rPr>
              <a:t>Sep: 1.13.0, newest</a:t>
            </a:r>
          </a:p>
          <a:p>
            <a:pPr algn="ctr"/>
            <a:r>
              <a:rPr sz="2000" b="0" i="0">
                <a:solidFill>
                  <a:srgbClr val="13262B"/>
                </a:solidFill>
                <a:latin typeface="Calibri"/>
              </a:rPr>
              <a:t>1.10: long-term support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4005072"/>
            <a:ext cx="813816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2600" b="0" i="1">
                <a:solidFill>
                  <a:srgbClr val="0E6B7C"/>
                </a:solidFill>
                <a:latin typeface="Cambria"/>
              </a:rPr>
              <a:t>“In short, because we are greedy.”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4498848"/>
            <a:ext cx="8138160" cy="320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500" b="0" i="0">
                <a:solidFill>
                  <a:srgbClr val="5F7378"/>
                </a:solidFill>
                <a:latin typeface="Calibri"/>
              </a:rPr>
              <a:t>Bezanson, Karpinski, Shah &amp; Edelman, “Why We Created Julia” (2012)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8138160" cy="7772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2800" b="0" i="0">
                <a:solidFill>
                  <a:srgbClr val="13262B"/>
                </a:solidFill>
                <a:latin typeface="Cambria"/>
              </a:rPr>
              <a:t>In R and Python, the fast part is written in 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051560"/>
            <a:ext cx="5486400" cy="2926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600" b="1" i="0" spc="200">
                <a:solidFill>
                  <a:srgbClr val="0E6B7C"/>
                </a:solidFill>
                <a:latin typeface="Calibri"/>
              </a:rPr>
              <a:t>THE TWO-LANGUAGE PROBLEM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627632"/>
            <a:ext cx="1417320" cy="457200"/>
          </a:xfrm>
          <a:prstGeom prst="roundRect">
            <a:avLst>
              <a:gd name="adj" fmla="val 50000"/>
            </a:avLst>
          </a:prstGeom>
          <a:solidFill>
            <a:srgbClr val="0E6B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R, Python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148840" y="1463040"/>
            <a:ext cx="1828800" cy="786384"/>
          </a:xfrm>
          <a:prstGeom prst="roundRect">
            <a:avLst>
              <a:gd name="adj" fmla="val 15000"/>
            </a:avLst>
          </a:prstGeom>
          <a:solidFill>
            <a:srgbClr val="F3F8F9"/>
          </a:solidFill>
          <a:ln>
            <a:noFill/>
          </a:ln>
          <a:effectLst>
            <a:outerShdw blurRad="76200" dist="25400" dir="5400000" algn="bl" rotWithShape="0">
              <a:srgbClr val="9FB6BC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2200" b="0" i="0">
                <a:solidFill>
                  <a:srgbClr val="13262B"/>
                </a:solidFill>
                <a:latin typeface="Calibri"/>
              </a:rPr>
              <a:t>Sketch the idea</a:t>
            </a:r>
          </a:p>
        </p:txBody>
      </p:sp>
      <p:sp>
        <p:nvSpPr>
          <p:cNvPr id="6" name="Right Arrow 5"/>
          <p:cNvSpPr/>
          <p:nvPr/>
        </p:nvSpPr>
        <p:spPr>
          <a:xfrm>
            <a:off x="4050791" y="1719072"/>
            <a:ext cx="274320" cy="274320"/>
          </a:xfrm>
          <a:prstGeom prst="rightArrow">
            <a:avLst/>
          </a:prstGeom>
          <a:solidFill>
            <a:srgbClr val="9FB6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389120" y="1463040"/>
            <a:ext cx="1828800" cy="786384"/>
          </a:xfrm>
          <a:prstGeom prst="roundRect">
            <a:avLst>
              <a:gd name="adj" fmla="val 15000"/>
            </a:avLst>
          </a:prstGeom>
          <a:solidFill>
            <a:srgbClr val="F3F8F9"/>
          </a:solidFill>
          <a:ln>
            <a:noFill/>
          </a:ln>
          <a:effectLst>
            <a:outerShdw blurRad="76200" dist="25400" dir="5400000" algn="bl" rotWithShape="0">
              <a:srgbClr val="9FB6BC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2200" b="0" i="0">
                <a:solidFill>
                  <a:srgbClr val="13262B"/>
                </a:solidFill>
                <a:latin typeface="Calibri"/>
              </a:rPr>
              <a:t>Too slow?</a:t>
            </a:r>
          </a:p>
        </p:txBody>
      </p:sp>
      <p:sp>
        <p:nvSpPr>
          <p:cNvPr id="8" name="Right Arrow 7"/>
          <p:cNvSpPr/>
          <p:nvPr/>
        </p:nvSpPr>
        <p:spPr>
          <a:xfrm>
            <a:off x="6291072" y="1719072"/>
            <a:ext cx="274320" cy="274320"/>
          </a:xfrm>
          <a:prstGeom prst="rightArrow">
            <a:avLst/>
          </a:prstGeom>
          <a:solidFill>
            <a:srgbClr val="9FB6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629400" y="1463040"/>
            <a:ext cx="2011680" cy="786384"/>
          </a:xfrm>
          <a:prstGeom prst="roundRect">
            <a:avLst>
              <a:gd name="adj" fmla="val 15000"/>
            </a:avLst>
          </a:prstGeom>
          <a:solidFill>
            <a:srgbClr val="E4572E"/>
          </a:solidFill>
          <a:ln>
            <a:noFill/>
          </a:ln>
          <a:effectLst>
            <a:outerShdw blurRad="76200" dist="25400" dir="5400000" algn="bl" rotWithShape="0">
              <a:srgbClr val="9FB6BC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Rewrite it in C or C++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48840" y="2377440"/>
            <a:ext cx="6492240" cy="4114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2000" b="0" i="1">
                <a:solidFill>
                  <a:srgbClr val="5F7378"/>
                </a:solidFill>
                <a:latin typeface="Calibri"/>
              </a:rPr>
              <a:t>R packages you use, like lme4 and glmmTMB, have C++ inside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3246120"/>
            <a:ext cx="1417320" cy="457200"/>
          </a:xfrm>
          <a:prstGeom prst="roundRect">
            <a:avLst>
              <a:gd name="adj" fmla="val 50000"/>
            </a:avLst>
          </a:prstGeom>
          <a:solidFill>
            <a:srgbClr val="F4B3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2000" b="1" i="0">
                <a:solidFill>
                  <a:srgbClr val="13262B"/>
                </a:solidFill>
                <a:latin typeface="Calibri"/>
              </a:rPr>
              <a:t>Julia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148840" y="3081528"/>
            <a:ext cx="1828800" cy="786384"/>
          </a:xfrm>
          <a:prstGeom prst="roundRect">
            <a:avLst>
              <a:gd name="adj" fmla="val 15000"/>
            </a:avLst>
          </a:prstGeom>
          <a:solidFill>
            <a:srgbClr val="F3F8F9"/>
          </a:solidFill>
          <a:ln>
            <a:noFill/>
          </a:ln>
          <a:effectLst>
            <a:outerShdw blurRad="76200" dist="25400" dir="5400000" algn="bl" rotWithShape="0">
              <a:srgbClr val="9FB6BC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2200" b="0" i="0">
                <a:solidFill>
                  <a:srgbClr val="13262B"/>
                </a:solidFill>
                <a:latin typeface="Calibri"/>
              </a:rPr>
              <a:t>Sketch the idea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4050791" y="3337560"/>
            <a:ext cx="274320" cy="274320"/>
          </a:xfrm>
          <a:prstGeom prst="rightArrow">
            <a:avLst/>
          </a:prstGeom>
          <a:solidFill>
            <a:srgbClr val="9FB6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389120" y="3081528"/>
            <a:ext cx="4251960" cy="786384"/>
          </a:xfrm>
          <a:prstGeom prst="roundRect">
            <a:avLst>
              <a:gd name="adj" fmla="val 15000"/>
            </a:avLst>
          </a:prstGeom>
          <a:solidFill>
            <a:srgbClr val="F4B324"/>
          </a:solidFill>
          <a:ln>
            <a:noFill/>
          </a:ln>
          <a:effectLst>
            <a:outerShdw blurRad="76200" dist="25400" dir="5400000" algn="bl" rotWithShape="0">
              <a:srgbClr val="9FB6BC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2200" b="1" i="0">
                <a:solidFill>
                  <a:srgbClr val="13262B"/>
                </a:solidFill>
                <a:latin typeface="Calibri"/>
              </a:rPr>
              <a:t>Make it fast, still in Julia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4206240"/>
            <a:ext cx="813816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2600" b="0" i="1">
                <a:solidFill>
                  <a:srgbClr val="0E6B7C"/>
                </a:solidFill>
                <a:latin typeface="Cambria"/>
              </a:rPr>
              <a:t>One language, from sketch to speed.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8138160" cy="7772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2800" b="0" i="0">
                <a:solidFill>
                  <a:srgbClr val="13262B"/>
                </a:solidFill>
                <a:latin typeface="Cambria"/>
              </a:rPr>
              <a:t>A plain Julia loop is 18 times faster than R’s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411480" y="1051560"/>
          <a:ext cx="8321040" cy="32918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02920" y="4389120"/>
            <a:ext cx="813816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400" b="0" i="0">
                <a:solidFill>
                  <a:srgbClr val="13262B"/>
                </a:solidFill>
                <a:latin typeface="Calibri"/>
              </a:rPr>
              <a:t>Measured on Shinichi’s Mac Studio (M1 Ultra), 24 Sep 2026: adding up 10 million numbers.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663440"/>
            <a:ext cx="813816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200" b="0" i="0">
                <a:solidFill>
                  <a:srgbClr val="5F7378"/>
                </a:solidFill>
                <a:latin typeface="Calibri"/>
              </a:rPr>
              <a:t>One thread, median of 7 to 11 runs · Julia 1.10.12 · R 4.6.0 · Python 3.13.2, NumPy 2.3.3 · C: clang -O2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8138160" cy="7772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2800" b="0" i="0">
                <a:solidFill>
                  <a:srgbClr val="13262B"/>
                </a:solidFill>
                <a:latin typeface="Cambria"/>
              </a:rPr>
              <a:t>Vectors and functions look like R, and count from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033271"/>
            <a:ext cx="4572000" cy="2926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600" b="1" i="0" spc="200">
                <a:solidFill>
                  <a:srgbClr val="0E6B7C"/>
                </a:solidFill>
                <a:latin typeface="Calibri"/>
              </a:rPr>
              <a:t>A LIST OF NUMBERS (A VECTOR)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325880"/>
            <a:ext cx="8138160" cy="457200"/>
          </a:xfrm>
          <a:prstGeom prst="roundRect">
            <a:avLst>
              <a:gd name="adj" fmla="val 30000"/>
            </a:avLst>
          </a:prstGeom>
          <a:solidFill>
            <a:srgbClr val="F3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ounded Rectangle 4"/>
          <p:cNvSpPr/>
          <p:nvPr/>
        </p:nvSpPr>
        <p:spPr>
          <a:xfrm>
            <a:off x="502920" y="1325880"/>
            <a:ext cx="1234440" cy="457200"/>
          </a:xfrm>
          <a:prstGeom prst="roundRect">
            <a:avLst>
              <a:gd name="adj" fmla="val 50000"/>
            </a:avLst>
          </a:prstGeom>
          <a:solidFill>
            <a:srgbClr val="0E6B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920240" y="1325880"/>
            <a:ext cx="484632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2800" b="0" i="0">
                <a:solidFill>
                  <a:srgbClr val="13262B"/>
                </a:solidFill>
                <a:latin typeface="Courier New"/>
              </a:rPr>
              <a:t>x &lt;- c(2, 4, 6); x[1]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828800"/>
            <a:ext cx="8138160" cy="457200"/>
          </a:xfrm>
          <a:prstGeom prst="roundRect">
            <a:avLst>
              <a:gd name="adj" fmla="val 30000"/>
            </a:avLst>
          </a:prstGeom>
          <a:solidFill>
            <a:srgbClr val="FDF3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502920" y="1828800"/>
            <a:ext cx="1234440" cy="457200"/>
          </a:xfrm>
          <a:prstGeom prst="roundRect">
            <a:avLst>
              <a:gd name="adj" fmla="val 50000"/>
            </a:avLst>
          </a:prstGeom>
          <a:solidFill>
            <a:srgbClr val="F4B3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2000" b="1" i="0">
                <a:solidFill>
                  <a:srgbClr val="13262B"/>
                </a:solidFill>
                <a:latin typeface="Calibri"/>
              </a:rPr>
              <a:t>Julia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20240" y="1828800"/>
            <a:ext cx="466344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2800" b="0" i="0">
                <a:solidFill>
                  <a:srgbClr val="13262B"/>
                </a:solidFill>
                <a:latin typeface="Courier New"/>
              </a:rPr>
              <a:t>x = [2, 4, 6];   x[1]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29400" y="1828800"/>
            <a:ext cx="192024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/>
            <a:r>
              <a:rPr sz="1800" b="0" i="1">
                <a:solidFill>
                  <a:srgbClr val="8A5A00"/>
                </a:solidFill>
                <a:latin typeface="Calibri"/>
              </a:rPr>
              <a:t>counts from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560320"/>
            <a:ext cx="4572000" cy="2926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600" b="1" i="0" spc="200">
                <a:solidFill>
                  <a:srgbClr val="0E6B7C"/>
                </a:solidFill>
                <a:latin typeface="Calibri"/>
              </a:rPr>
              <a:t>A FUNCTION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2852928"/>
            <a:ext cx="8138160" cy="457200"/>
          </a:xfrm>
          <a:prstGeom prst="roundRect">
            <a:avLst>
              <a:gd name="adj" fmla="val 30000"/>
            </a:avLst>
          </a:prstGeom>
          <a:solidFill>
            <a:srgbClr val="F3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502920" y="2852928"/>
            <a:ext cx="1234440" cy="457200"/>
          </a:xfrm>
          <a:prstGeom prst="roundRect">
            <a:avLst>
              <a:gd name="adj" fmla="val 50000"/>
            </a:avLst>
          </a:prstGeom>
          <a:solidFill>
            <a:srgbClr val="0E6B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20240" y="2852928"/>
            <a:ext cx="484632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2800" b="0" i="0">
                <a:solidFill>
                  <a:srgbClr val="13262B"/>
                </a:solidFill>
                <a:latin typeface="Courier New"/>
              </a:rPr>
              <a:t>sq &lt;- function(v) v^2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3355848"/>
            <a:ext cx="8138160" cy="457200"/>
          </a:xfrm>
          <a:prstGeom prst="roundRect">
            <a:avLst>
              <a:gd name="adj" fmla="val 30000"/>
            </a:avLst>
          </a:prstGeom>
          <a:solidFill>
            <a:srgbClr val="FDF3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502920" y="3355848"/>
            <a:ext cx="1234440" cy="457200"/>
          </a:xfrm>
          <a:prstGeom prst="roundRect">
            <a:avLst>
              <a:gd name="adj" fmla="val 50000"/>
            </a:avLst>
          </a:prstGeom>
          <a:solidFill>
            <a:srgbClr val="F4B3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2000" b="1" i="0">
                <a:solidFill>
                  <a:srgbClr val="13262B"/>
                </a:solidFill>
                <a:latin typeface="Calibri"/>
              </a:rPr>
              <a:t>Julia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20240" y="3355848"/>
            <a:ext cx="466344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2800" b="0" i="0">
                <a:solidFill>
                  <a:srgbClr val="13262B"/>
                </a:solidFill>
                <a:latin typeface="Courier New"/>
              </a:rPr>
              <a:t>sq(v) = v^2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29400" y="3355848"/>
            <a:ext cx="192024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/>
            <a:r>
              <a:rPr sz="1800" b="0" i="1">
                <a:solidFill>
                  <a:srgbClr val="8A5A00"/>
                </a:solidFill>
                <a:latin typeface="Calibri"/>
              </a:rPr>
              <a:t>reads like maths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4069080"/>
            <a:ext cx="813816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2400" b="0" i="1">
                <a:solidFill>
                  <a:srgbClr val="0E6B7C"/>
                </a:solidFill>
                <a:latin typeface="Cambria"/>
              </a:rPr>
              <a:t>Square brackets instead of c(); a short function is one line.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8138160" cy="7772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2800" b="0" i="0">
                <a:solidFill>
                  <a:srgbClr val="13262B"/>
                </a:solidFill>
                <a:latin typeface="Cambria"/>
              </a:rPr>
              <a:t>One new habit: a dot means “every element”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011680" y="1078992"/>
            <a:ext cx="1920240" cy="2926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600" b="1" i="0" spc="200">
                <a:solidFill>
                  <a:srgbClr val="0E6B7C"/>
                </a:solidFill>
                <a:latin typeface="Calibri"/>
              </a:rPr>
              <a:t>ADD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069080" y="1078992"/>
            <a:ext cx="1920240" cy="2926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600" b="1" i="0" spc="200">
                <a:solidFill>
                  <a:srgbClr val="0E6B7C"/>
                </a:solidFill>
                <a:latin typeface="Calibri"/>
              </a:rPr>
              <a:t>COMPARE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0" y="1078992"/>
            <a:ext cx="2468880" cy="2926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600" b="1" i="0" spc="200">
                <a:solidFill>
                  <a:srgbClr val="0E6B7C"/>
                </a:solidFill>
                <a:latin typeface="Calibri"/>
              </a:rPr>
              <a:t>ANY FUNCTION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417320"/>
            <a:ext cx="8138160" cy="457200"/>
          </a:xfrm>
          <a:prstGeom prst="roundRect">
            <a:avLst>
              <a:gd name="adj" fmla="val 30000"/>
            </a:avLst>
          </a:prstGeom>
          <a:solidFill>
            <a:srgbClr val="F3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ounded Rectangle 6"/>
          <p:cNvSpPr/>
          <p:nvPr/>
        </p:nvSpPr>
        <p:spPr>
          <a:xfrm>
            <a:off x="502920" y="1417320"/>
            <a:ext cx="1234440" cy="457200"/>
          </a:xfrm>
          <a:prstGeom prst="roundRect">
            <a:avLst>
              <a:gd name="adj" fmla="val 50000"/>
            </a:avLst>
          </a:prstGeom>
          <a:solidFill>
            <a:srgbClr val="0E6B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11680" y="1417320"/>
            <a:ext cx="192024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2800" b="0" i="0">
                <a:solidFill>
                  <a:srgbClr val="13262B"/>
                </a:solidFill>
                <a:latin typeface="Courier New"/>
              </a:rPr>
              <a:t>x + 1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069080" y="1417320"/>
            <a:ext cx="192024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2800" b="0" i="0">
                <a:solidFill>
                  <a:srgbClr val="13262B"/>
                </a:solidFill>
                <a:latin typeface="Courier New"/>
              </a:rPr>
              <a:t>x == 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26480" y="1417320"/>
            <a:ext cx="246888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2800" b="0" i="0">
                <a:solidFill>
                  <a:srgbClr val="13262B"/>
                </a:solidFill>
                <a:latin typeface="Courier New"/>
              </a:rPr>
              <a:t>sqrt(x)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1938528"/>
            <a:ext cx="8138160" cy="457200"/>
          </a:xfrm>
          <a:prstGeom prst="roundRect">
            <a:avLst>
              <a:gd name="adj" fmla="val 30000"/>
            </a:avLst>
          </a:prstGeom>
          <a:solidFill>
            <a:srgbClr val="FDF3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502920" y="1938528"/>
            <a:ext cx="1234440" cy="457200"/>
          </a:xfrm>
          <a:prstGeom prst="roundRect">
            <a:avLst>
              <a:gd name="adj" fmla="val 50000"/>
            </a:avLst>
          </a:prstGeom>
          <a:solidFill>
            <a:srgbClr val="F4B3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2000" b="1" i="0">
                <a:solidFill>
                  <a:srgbClr val="13262B"/>
                </a:solidFill>
                <a:latin typeface="Calibri"/>
              </a:rPr>
              <a:t>Julia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11680" y="1938528"/>
            <a:ext cx="192024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2800" b="0" i="0">
                <a:solidFill>
                  <a:srgbClr val="13262B"/>
                </a:solidFill>
                <a:latin typeface="Courier New"/>
              </a:rPr>
              <a:t>x </a:t>
            </a:r>
            <a:r>
              <a:rPr sz="2800" b="0" i="0">
                <a:solidFill>
                  <a:srgbClr val="E4572E"/>
                </a:solidFill>
                <a:latin typeface="Courier New"/>
              </a:rPr>
              <a:t>.</a:t>
            </a:r>
            <a:r>
              <a:rPr sz="2800" b="0" i="0">
                <a:solidFill>
                  <a:srgbClr val="13262B"/>
                </a:solidFill>
                <a:latin typeface="Courier New"/>
              </a:rPr>
              <a:t>+ 1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69080" y="1938528"/>
            <a:ext cx="192024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2800" b="0" i="0">
                <a:solidFill>
                  <a:srgbClr val="13262B"/>
                </a:solidFill>
                <a:latin typeface="Courier New"/>
              </a:rPr>
              <a:t>x </a:t>
            </a:r>
            <a:r>
              <a:rPr sz="2800" b="0" i="0">
                <a:solidFill>
                  <a:srgbClr val="E4572E"/>
                </a:solidFill>
                <a:latin typeface="Courier New"/>
              </a:rPr>
              <a:t>.</a:t>
            </a:r>
            <a:r>
              <a:rPr sz="2800" b="0" i="0">
                <a:solidFill>
                  <a:srgbClr val="13262B"/>
                </a:solidFill>
                <a:latin typeface="Courier New"/>
              </a:rPr>
              <a:t>== 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26480" y="1938528"/>
            <a:ext cx="246888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2800" b="0" i="0">
                <a:solidFill>
                  <a:srgbClr val="13262B"/>
                </a:solidFill>
                <a:latin typeface="Courier New"/>
              </a:rPr>
              <a:t>sqrt</a:t>
            </a:r>
            <a:r>
              <a:rPr sz="2800" b="0" i="0">
                <a:solidFill>
                  <a:srgbClr val="E4572E"/>
                </a:solidFill>
                <a:latin typeface="Courier New"/>
              </a:rPr>
              <a:t>.</a:t>
            </a:r>
            <a:r>
              <a:rPr sz="2800" b="0" i="0">
                <a:solidFill>
                  <a:srgbClr val="13262B"/>
                </a:solidFill>
                <a:latin typeface="Courier New"/>
              </a:rPr>
              <a:t>(x)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3246120"/>
            <a:ext cx="3931920" cy="1325880"/>
          </a:xfrm>
          <a:prstGeom prst="roundRect">
            <a:avLst>
              <a:gd name="adj" fmla="val 10000"/>
            </a:avLst>
          </a:prstGeom>
          <a:solidFill>
            <a:srgbClr val="FDF3DA"/>
          </a:solidFill>
          <a:ln>
            <a:noFill/>
          </a:ln>
          <a:effectLst>
            <a:outerShdw blurRad="76200" dist="25400" dir="5400000" algn="bl" rotWithShape="0">
              <a:srgbClr val="9FB6BC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731520" y="3337560"/>
            <a:ext cx="3566160" cy="4114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2000" b="1" i="0">
                <a:solidFill>
                  <a:srgbClr val="13262B"/>
                </a:solidFill>
                <a:latin typeface="Calibri"/>
              </a:rPr>
              <a:t>Works on your own functions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3840480"/>
            <a:ext cx="3566160" cy="5486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2800" b="0" i="0">
                <a:solidFill>
                  <a:srgbClr val="13262B"/>
                </a:solidFill>
                <a:latin typeface="Courier New"/>
              </a:rPr>
              <a:t>sq</a:t>
            </a:r>
            <a:r>
              <a:rPr sz="2800" b="0" i="0">
                <a:solidFill>
                  <a:srgbClr val="E4572E"/>
                </a:solidFill>
                <a:latin typeface="Courier New"/>
              </a:rPr>
              <a:t>.</a:t>
            </a:r>
            <a:r>
              <a:rPr sz="2800" b="0" i="0">
                <a:solidFill>
                  <a:srgbClr val="13262B"/>
                </a:solidFill>
                <a:latin typeface="Courier New"/>
              </a:rPr>
              <a:t>(x)</a:t>
            </a:r>
            <a:r>
              <a:rPr sz="2000" b="0" i="0">
                <a:solidFill>
                  <a:srgbClr val="5F7378"/>
                </a:solidFill>
                <a:latin typeface="Courier New"/>
              </a:rPr>
              <a:t>   # 4, 16, 36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709160" y="3246120"/>
            <a:ext cx="3931920" cy="1325880"/>
          </a:xfrm>
          <a:prstGeom prst="roundRect">
            <a:avLst>
              <a:gd name="adj" fmla="val 10000"/>
            </a:avLst>
          </a:prstGeom>
          <a:solidFill>
            <a:srgbClr val="FBE6DF"/>
          </a:solidFill>
          <a:ln>
            <a:noFill/>
          </a:ln>
          <a:effectLst>
            <a:outerShdw blurRad="76200" dist="25400" dir="5400000" algn="bl" rotWithShape="0">
              <a:srgbClr val="9FB6BC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4937760" y="3337560"/>
            <a:ext cx="3566160" cy="4114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2000" b="1" i="0">
                <a:solidFill>
                  <a:srgbClr val="13262B"/>
                </a:solidFill>
                <a:latin typeface="Calibri"/>
              </a:rPr>
              <a:t>Without the dot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937760" y="3840480"/>
            <a:ext cx="3566160" cy="5486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2800" b="0" i="0">
                <a:solidFill>
                  <a:srgbClr val="13262B"/>
                </a:solidFill>
                <a:latin typeface="Courier New"/>
              </a:rPr>
              <a:t>x == 4</a:t>
            </a:r>
            <a:r>
              <a:rPr sz="2000" b="0" i="0">
                <a:solidFill>
                  <a:srgbClr val="5F7378"/>
                </a:solidFill>
                <a:latin typeface="Courier New"/>
              </a:rPr>
              <a:t>   # false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8138160" cy="7772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2800" b="0" i="0">
                <a:solidFill>
                  <a:srgbClr val="13262B"/>
                </a:solidFill>
                <a:latin typeface="Cambria"/>
              </a:rPr>
              <a:t>Packages and columns: new spelling, same idea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920240" y="1033271"/>
            <a:ext cx="3931920" cy="2926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600" b="1" i="0" spc="200">
                <a:solidFill>
                  <a:srgbClr val="0E6B7C"/>
                </a:solidFill>
                <a:latin typeface="Calibri"/>
              </a:rPr>
              <a:t>LOAD A PACKAGE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89320" y="1033271"/>
            <a:ext cx="2560320" cy="2926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600" b="1" i="0" spc="200">
                <a:solidFill>
                  <a:srgbClr val="0E6B7C"/>
                </a:solidFill>
                <a:latin typeface="Calibri"/>
              </a:rPr>
              <a:t>ONE COLUMN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325880"/>
            <a:ext cx="8138160" cy="457200"/>
          </a:xfrm>
          <a:prstGeom prst="roundRect">
            <a:avLst>
              <a:gd name="adj" fmla="val 30000"/>
            </a:avLst>
          </a:prstGeom>
          <a:solidFill>
            <a:srgbClr val="F3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ounded Rectangle 5"/>
          <p:cNvSpPr/>
          <p:nvPr/>
        </p:nvSpPr>
        <p:spPr>
          <a:xfrm>
            <a:off x="502920" y="1325880"/>
            <a:ext cx="1234440" cy="457200"/>
          </a:xfrm>
          <a:prstGeom prst="roundRect">
            <a:avLst>
              <a:gd name="adj" fmla="val 50000"/>
            </a:avLst>
          </a:prstGeom>
          <a:solidFill>
            <a:srgbClr val="0E6B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20240" y="1325880"/>
            <a:ext cx="393192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2800" b="0" i="0">
                <a:solidFill>
                  <a:srgbClr val="13262B"/>
                </a:solidFill>
                <a:latin typeface="Courier New"/>
              </a:rPr>
              <a:t>library(dplyr)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89320" y="1325880"/>
            <a:ext cx="256032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2800" b="0" i="0">
                <a:solidFill>
                  <a:srgbClr val="13262B"/>
                </a:solidFill>
                <a:latin typeface="Courier New"/>
              </a:rPr>
              <a:t>df$mass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828800"/>
            <a:ext cx="8138160" cy="457200"/>
          </a:xfrm>
          <a:prstGeom prst="roundRect">
            <a:avLst>
              <a:gd name="adj" fmla="val 30000"/>
            </a:avLst>
          </a:prstGeom>
          <a:solidFill>
            <a:srgbClr val="FDF3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ounded Rectangle 9"/>
          <p:cNvSpPr/>
          <p:nvPr/>
        </p:nvSpPr>
        <p:spPr>
          <a:xfrm>
            <a:off x="502920" y="1828800"/>
            <a:ext cx="1234440" cy="457200"/>
          </a:xfrm>
          <a:prstGeom prst="roundRect">
            <a:avLst>
              <a:gd name="adj" fmla="val 50000"/>
            </a:avLst>
          </a:prstGeom>
          <a:solidFill>
            <a:srgbClr val="F4B3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2000" b="1" i="0">
                <a:solidFill>
                  <a:srgbClr val="13262B"/>
                </a:solidFill>
                <a:latin typeface="Calibri"/>
              </a:rPr>
              <a:t>Julia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20240" y="1828800"/>
            <a:ext cx="393192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2800" b="0" i="0">
                <a:solidFill>
                  <a:srgbClr val="13262B"/>
                </a:solidFill>
                <a:latin typeface="Courier New"/>
              </a:rPr>
              <a:t>using DataFrames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89320" y="1828800"/>
            <a:ext cx="256032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2800" b="0" i="0">
                <a:solidFill>
                  <a:srgbClr val="13262B"/>
                </a:solidFill>
                <a:latin typeface="Courier New"/>
              </a:rPr>
              <a:t>df.mass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2743200"/>
            <a:ext cx="8138160" cy="914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2400" b="0" i="0">
                <a:solidFill>
                  <a:srgbClr val="13262B"/>
                </a:solidFill>
                <a:latin typeface="Calibri"/>
              </a:rPr>
              <a:t>library() becomes using.</a:t>
            </a:r>
          </a:p>
          <a:p>
            <a:pPr algn="l"/>
            <a:r>
              <a:rPr sz="2400" b="0" i="0">
                <a:solidFill>
                  <a:srgbClr val="13262B"/>
                </a:solidFill>
                <a:latin typeface="Calibri"/>
              </a:rPr>
              <a:t>The dollar sign becomes a dot.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8138160" cy="7772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2800" b="0" i="0">
                <a:solidFill>
                  <a:srgbClr val="13262B"/>
                </a:solidFill>
                <a:latin typeface="Cambria"/>
              </a:rPr>
              <a:t>Greek letters work, so code can read like the paper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1143000"/>
            <a:ext cx="4297680" cy="2514600"/>
          </a:xfrm>
          <a:prstGeom prst="roundRect">
            <a:avLst>
              <a:gd name="adj" fmla="val 5000"/>
            </a:avLst>
          </a:prstGeom>
          <a:solidFill>
            <a:srgbClr val="07323C"/>
          </a:solidFill>
          <a:ln>
            <a:noFill/>
          </a:ln>
          <a:effectLst>
            <a:outerShdw blurRad="76200" dist="25400" dir="5400000" algn="bl" rotWithShape="0">
              <a:srgbClr val="9FB6BC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Oval 3"/>
          <p:cNvSpPr/>
          <p:nvPr/>
        </p:nvSpPr>
        <p:spPr>
          <a:xfrm>
            <a:off x="685800" y="1307592"/>
            <a:ext cx="118872" cy="118872"/>
          </a:xfrm>
          <a:prstGeom prst="ellipse">
            <a:avLst/>
          </a:prstGeom>
          <a:solidFill>
            <a:srgbClr val="E45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Oval 4"/>
          <p:cNvSpPr/>
          <p:nvPr/>
        </p:nvSpPr>
        <p:spPr>
          <a:xfrm>
            <a:off x="868680" y="1307592"/>
            <a:ext cx="118872" cy="118872"/>
          </a:xfrm>
          <a:prstGeom prst="ellipse">
            <a:avLst/>
          </a:prstGeom>
          <a:solidFill>
            <a:srgbClr val="F4B3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Oval 5"/>
          <p:cNvSpPr/>
          <p:nvPr/>
        </p:nvSpPr>
        <p:spPr>
          <a:xfrm>
            <a:off x="1051560" y="1307592"/>
            <a:ext cx="118872" cy="118872"/>
          </a:xfrm>
          <a:prstGeom prst="ellipse">
            <a:avLst/>
          </a:prstGeom>
          <a:solidFill>
            <a:srgbClr val="6CC0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80160" y="1216152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400" b="0" i="0">
                <a:solidFill>
                  <a:srgbClr val="9FB6BC"/>
                </a:solidFill>
                <a:latin typeface="Calibri"/>
              </a:rPr>
              <a:t>julia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618488"/>
            <a:ext cx="3840480" cy="194767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2800" b="0" i="0">
                <a:solidFill>
                  <a:srgbClr val="F4B324"/>
                </a:solidFill>
                <a:latin typeface="Courier New"/>
              </a:rPr>
              <a:t>using</a:t>
            </a:r>
            <a:r>
              <a:rPr sz="2800" b="0" i="0">
                <a:solidFill>
                  <a:srgbClr val="E6F1F3"/>
                </a:solidFill>
                <a:latin typeface="Courier New"/>
              </a:rPr>
              <a:t> </a:t>
            </a:r>
            <a:r>
              <a:rPr sz="2800" b="0" i="0">
                <a:solidFill>
                  <a:srgbClr val="E6F1F3"/>
                </a:solidFill>
                <a:latin typeface="Courier New"/>
              </a:rPr>
              <a:t>Statistics</a:t>
            </a:r>
          </a:p>
          <a:p>
            <a:pPr algn="l"/>
            <a:r>
              <a:rPr sz="2800" b="0" i="0">
                <a:solidFill>
                  <a:srgbClr val="E6F1F3"/>
                </a:solidFill>
                <a:latin typeface="Courier New"/>
              </a:rPr>
              <a:t>μ</a:t>
            </a:r>
            <a:r>
              <a:rPr sz="2800" b="0" i="0">
                <a:solidFill>
                  <a:srgbClr val="E6F1F3"/>
                </a:solidFill>
                <a:latin typeface="Courier New"/>
              </a:rPr>
              <a:t>  </a:t>
            </a:r>
            <a:r>
              <a:rPr sz="2800" b="0" i="0">
                <a:solidFill>
                  <a:srgbClr val="E6F1F3"/>
                </a:solidFill>
                <a:latin typeface="Courier New"/>
              </a:rPr>
              <a:t>=</a:t>
            </a:r>
            <a:r>
              <a:rPr sz="2800" b="0" i="0">
                <a:solidFill>
                  <a:srgbClr val="E6F1F3"/>
                </a:solidFill>
                <a:latin typeface="Courier New"/>
              </a:rPr>
              <a:t> </a:t>
            </a:r>
            <a:r>
              <a:rPr sz="2800" b="0" i="0">
                <a:solidFill>
                  <a:srgbClr val="E6F1F3"/>
                </a:solidFill>
                <a:latin typeface="Courier New"/>
              </a:rPr>
              <a:t>mean</a:t>
            </a:r>
            <a:r>
              <a:rPr sz="2800" b="0" i="0">
                <a:solidFill>
                  <a:srgbClr val="E6F1F3"/>
                </a:solidFill>
                <a:latin typeface="Courier New"/>
              </a:rPr>
              <a:t>(</a:t>
            </a:r>
            <a:r>
              <a:rPr sz="2800" b="0" i="0">
                <a:solidFill>
                  <a:srgbClr val="E6F1F3"/>
                </a:solidFill>
                <a:latin typeface="Courier New"/>
              </a:rPr>
              <a:t>x</a:t>
            </a:r>
            <a:r>
              <a:rPr sz="2800" b="0" i="0">
                <a:solidFill>
                  <a:srgbClr val="E6F1F3"/>
                </a:solidFill>
                <a:latin typeface="Courier New"/>
              </a:rPr>
              <a:t>)</a:t>
            </a:r>
          </a:p>
          <a:p>
            <a:pPr algn="l"/>
            <a:r>
              <a:rPr sz="2800" b="0" i="0">
                <a:solidFill>
                  <a:srgbClr val="E6F1F3"/>
                </a:solidFill>
                <a:latin typeface="Courier New"/>
              </a:rPr>
              <a:t>σ²</a:t>
            </a:r>
            <a:r>
              <a:rPr sz="2800" b="0" i="0">
                <a:solidFill>
                  <a:srgbClr val="E6F1F3"/>
                </a:solidFill>
                <a:latin typeface="Courier New"/>
              </a:rPr>
              <a:t> </a:t>
            </a:r>
            <a:r>
              <a:rPr sz="2800" b="0" i="0">
                <a:solidFill>
                  <a:srgbClr val="E6F1F3"/>
                </a:solidFill>
                <a:latin typeface="Courier New"/>
              </a:rPr>
              <a:t>=</a:t>
            </a:r>
            <a:r>
              <a:rPr sz="2800" b="0" i="0">
                <a:solidFill>
                  <a:srgbClr val="E6F1F3"/>
                </a:solidFill>
                <a:latin typeface="Courier New"/>
              </a:rPr>
              <a:t> </a:t>
            </a:r>
            <a:r>
              <a:rPr sz="2800" b="0" i="0">
                <a:solidFill>
                  <a:srgbClr val="E6F1F3"/>
                </a:solidFill>
                <a:latin typeface="Courier New"/>
              </a:rPr>
              <a:t>var</a:t>
            </a:r>
            <a:r>
              <a:rPr sz="2800" b="0" i="0">
                <a:solidFill>
                  <a:srgbClr val="E6F1F3"/>
                </a:solidFill>
                <a:latin typeface="Courier New"/>
              </a:rPr>
              <a:t>(</a:t>
            </a:r>
            <a:r>
              <a:rPr sz="2800" b="0" i="0">
                <a:solidFill>
                  <a:srgbClr val="E6F1F3"/>
                </a:solidFill>
                <a:latin typeface="Courier New"/>
              </a:rPr>
              <a:t>x</a:t>
            </a:r>
            <a:r>
              <a:rPr sz="2800" b="0" i="0">
                <a:solidFill>
                  <a:srgbClr val="E6F1F3"/>
                </a:solidFill>
                <a:latin typeface="Courier New"/>
              </a:rPr>
              <a:t>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74920" y="1143000"/>
            <a:ext cx="3566160" cy="2514600"/>
          </a:xfrm>
          <a:prstGeom prst="roundRect">
            <a:avLst>
              <a:gd name="adj" fmla="val 8000"/>
            </a:avLst>
          </a:prstGeom>
          <a:solidFill>
            <a:srgbClr val="FDF3DA"/>
          </a:solidFill>
          <a:ln>
            <a:noFill/>
          </a:ln>
          <a:effectLst>
            <a:outerShdw blurRad="76200" dist="25400" dir="5400000" algn="bl" rotWithShape="0">
              <a:srgbClr val="9FB6BC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5303520" y="1298448"/>
            <a:ext cx="3200400" cy="2926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600" b="1" i="0" spc="200">
                <a:solidFill>
                  <a:srgbClr val="8A5A00"/>
                </a:solidFill>
                <a:latin typeface="Calibri"/>
              </a:rPr>
              <a:t>TYPE, THEN PRESS TAB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0" y="1737360"/>
            <a:ext cx="2331720" cy="5029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2200" b="0" i="0">
                <a:solidFill>
                  <a:srgbClr val="13262B"/>
                </a:solidFill>
                <a:latin typeface="Courier New"/>
              </a:rPr>
              <a:t>\mu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89520" y="1737360"/>
            <a:ext cx="914400" cy="5029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2200" b="0" i="0">
                <a:solidFill>
                  <a:srgbClr val="5F7378"/>
                </a:solidFill>
                <a:latin typeface="Calibri"/>
              </a:rPr>
              <a:t>→ </a:t>
            </a:r>
            <a:r>
              <a:rPr sz="3000" b="0" i="0">
                <a:solidFill>
                  <a:srgbClr val="13262B"/>
                </a:solidFill>
                <a:latin typeface="Cambria"/>
              </a:rPr>
              <a:t>μ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03520" y="2340864"/>
            <a:ext cx="2331720" cy="5029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2200" b="0" i="0">
                <a:solidFill>
                  <a:srgbClr val="13262B"/>
                </a:solidFill>
                <a:latin typeface="Courier New"/>
              </a:rPr>
              <a:t>\sigma \^2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89520" y="2340864"/>
            <a:ext cx="914400" cy="5029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2200" b="0" i="0">
                <a:solidFill>
                  <a:srgbClr val="5F7378"/>
                </a:solidFill>
                <a:latin typeface="Calibri"/>
              </a:rPr>
              <a:t>→ </a:t>
            </a:r>
            <a:r>
              <a:rPr sz="3000" b="0" i="0">
                <a:solidFill>
                  <a:srgbClr val="13262B"/>
                </a:solidFill>
                <a:latin typeface="Cambria"/>
              </a:rPr>
              <a:t>σ²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3977639"/>
            <a:ext cx="8138160" cy="502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2600" b="0" i="1">
                <a:solidFill>
                  <a:srgbClr val="0E6B7C"/>
                </a:solidFill>
                <a:latin typeface="Cambria"/>
              </a:rPr>
              <a:t>Your methods section, as working code.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8138160" cy="7772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2800" b="0" i="0">
                <a:solidFill>
                  <a:srgbClr val="13262B"/>
                </a:solidFill>
                <a:latin typeface="Cambria"/>
              </a:rPr>
              <a:t>The models this lab uses already have Julia packages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1115568"/>
            <a:ext cx="8138160" cy="420624"/>
          </a:xfrm>
          <a:prstGeom prst="roundRect">
            <a:avLst>
              <a:gd name="adj" fmla="val 30000"/>
            </a:avLst>
          </a:prstGeom>
          <a:solidFill>
            <a:srgbClr val="F3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31520" y="1115568"/>
            <a:ext cx="3108960" cy="42062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2000" b="1" i="0">
                <a:solidFill>
                  <a:srgbClr val="0E6B7C"/>
                </a:solidFill>
                <a:latin typeface="Calibri"/>
              </a:rPr>
              <a:t>DataFrames.jl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0" y="1115568"/>
            <a:ext cx="4892040" cy="42062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2000" b="0" i="0">
                <a:solidFill>
                  <a:srgbClr val="13262B"/>
                </a:solidFill>
                <a:latin typeface="Calibri"/>
              </a:rPr>
              <a:t>tables of data, like dplyr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591056"/>
            <a:ext cx="8138160" cy="420624"/>
          </a:xfrm>
          <a:prstGeom prst="roundRect">
            <a:avLst>
              <a:gd name="adj" fmla="val 30000"/>
            </a:avLst>
          </a:prstGeom>
          <a:solidFill>
            <a:srgbClr val="F3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731520" y="1591056"/>
            <a:ext cx="3108960" cy="42062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2000" b="1" i="0">
                <a:solidFill>
                  <a:srgbClr val="0E6B7C"/>
                </a:solidFill>
                <a:latin typeface="Calibri"/>
              </a:rPr>
              <a:t>GLM.jl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0" y="1591056"/>
            <a:ext cx="4892040" cy="42062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2000" b="0" i="0">
                <a:solidFill>
                  <a:srgbClr val="13262B"/>
                </a:solidFill>
                <a:latin typeface="Courier New"/>
              </a:rPr>
              <a:t>lm()</a:t>
            </a:r>
            <a:r>
              <a:rPr sz="2000" b="0" i="0">
                <a:solidFill>
                  <a:srgbClr val="13262B"/>
                </a:solidFill>
                <a:latin typeface="Calibri"/>
              </a:rPr>
              <a:t> and </a:t>
            </a:r>
            <a:r>
              <a:rPr sz="2000" b="0" i="0">
                <a:solidFill>
                  <a:srgbClr val="13262B"/>
                </a:solidFill>
                <a:latin typeface="Courier New"/>
              </a:rPr>
              <a:t>glm()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2066543"/>
            <a:ext cx="8138160" cy="420624"/>
          </a:xfrm>
          <a:prstGeom prst="roundRect">
            <a:avLst>
              <a:gd name="adj" fmla="val 30000"/>
            </a:avLst>
          </a:prstGeom>
          <a:solidFill>
            <a:srgbClr val="FDF3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731520" y="2066543"/>
            <a:ext cx="3108960" cy="42062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2000" b="1" i="0">
                <a:solidFill>
                  <a:srgbClr val="8A5A00"/>
                </a:solidFill>
                <a:latin typeface="Calibri"/>
              </a:rPr>
              <a:t>MixedModels.jl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0" y="2066543"/>
            <a:ext cx="4892040" cy="42062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2000" b="0" i="0">
                <a:solidFill>
                  <a:srgbClr val="13262B"/>
                </a:solidFill>
                <a:latin typeface="Courier New"/>
              </a:rPr>
              <a:t>lmer()</a:t>
            </a:r>
            <a:r>
              <a:rPr sz="2000" b="0" i="0">
                <a:solidFill>
                  <a:srgbClr val="13262B"/>
                </a:solidFill>
                <a:latin typeface="Calibri"/>
              </a:rPr>
              <a:t>, by lme4’s first author, Douglas Bates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2542032"/>
            <a:ext cx="8138160" cy="420624"/>
          </a:xfrm>
          <a:prstGeom prst="roundRect">
            <a:avLst>
              <a:gd name="adj" fmla="val 30000"/>
            </a:avLst>
          </a:prstGeom>
          <a:solidFill>
            <a:srgbClr val="F3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731520" y="2542032"/>
            <a:ext cx="3108960" cy="42062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2000" b="1" i="0">
                <a:solidFill>
                  <a:srgbClr val="0E6B7C"/>
                </a:solidFill>
                <a:latin typeface="Calibri"/>
              </a:rPr>
              <a:t>Turing.jl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0" y="2542032"/>
            <a:ext cx="4892040" cy="42062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2000" b="0" i="0">
                <a:solidFill>
                  <a:srgbClr val="13262B"/>
                </a:solidFill>
                <a:latin typeface="Calibri"/>
              </a:rPr>
              <a:t>Bayesian models, like brms or Stan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3017520"/>
            <a:ext cx="8138160" cy="420624"/>
          </a:xfrm>
          <a:prstGeom prst="roundRect">
            <a:avLst>
              <a:gd name="adj" fmla="val 30000"/>
            </a:avLst>
          </a:prstGeom>
          <a:solidFill>
            <a:srgbClr val="F3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731520" y="3017520"/>
            <a:ext cx="3108960" cy="42062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2000" b="1" i="0">
                <a:solidFill>
                  <a:srgbClr val="0E6B7C"/>
                </a:solidFill>
                <a:latin typeface="Calibri"/>
              </a:rPr>
              <a:t>DifferentialEquations.jl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0" y="3017520"/>
            <a:ext cx="4892040" cy="42062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2000" b="0" i="0">
                <a:solidFill>
                  <a:srgbClr val="13262B"/>
                </a:solidFill>
                <a:latin typeface="Calibri"/>
              </a:rPr>
              <a:t>populations changing over time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3493008"/>
            <a:ext cx="8138160" cy="420624"/>
          </a:xfrm>
          <a:prstGeom prst="roundRect">
            <a:avLst>
              <a:gd name="adj" fmla="val 30000"/>
            </a:avLst>
          </a:prstGeom>
          <a:solidFill>
            <a:srgbClr val="F3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731520" y="3493008"/>
            <a:ext cx="3108960" cy="42062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2000" b="1" i="0">
                <a:solidFill>
                  <a:srgbClr val="0E6B7C"/>
                </a:solidFill>
                <a:latin typeface="Calibri"/>
              </a:rPr>
              <a:t>Makie.jl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0" y="3493008"/>
            <a:ext cx="4892040" cy="42062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2000" b="0" i="0">
                <a:solidFill>
                  <a:srgbClr val="13262B"/>
                </a:solidFill>
                <a:latin typeface="Calibri"/>
              </a:rPr>
              <a:t>plots and figures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" y="3968496"/>
            <a:ext cx="8138160" cy="420624"/>
          </a:xfrm>
          <a:prstGeom prst="roundRect">
            <a:avLst>
              <a:gd name="adj" fmla="val 30000"/>
            </a:avLst>
          </a:prstGeom>
          <a:solidFill>
            <a:srgbClr val="F3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731520" y="3968496"/>
            <a:ext cx="3108960" cy="42062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2000" b="1" i="0">
                <a:solidFill>
                  <a:srgbClr val="0E6B7C"/>
                </a:solidFill>
                <a:latin typeface="Calibri"/>
              </a:rPr>
              <a:t>RCall.jl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0" y="3968496"/>
            <a:ext cx="4892040" cy="42062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2000" b="0" i="0">
                <a:solidFill>
                  <a:srgbClr val="13262B"/>
                </a:solidFill>
                <a:latin typeface="Calibri"/>
              </a:rPr>
              <a:t>call R from inside Julia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8138160" cy="7772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2800" b="0" i="0">
                <a:solidFill>
                  <a:srgbClr val="13262B"/>
                </a:solidFill>
                <a:latin typeface="Cambria"/>
              </a:rPr>
              <a:t>Same formula, same answer: a mixed model in Julia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033271"/>
            <a:ext cx="5486400" cy="2926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600" b="1" i="0" spc="200">
                <a:solidFill>
                  <a:srgbClr val="0E6B7C"/>
                </a:solidFill>
                <a:latin typeface="Calibri"/>
              </a:rPr>
              <a:t>A MIXED MODEL, AS IN LME4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325880"/>
            <a:ext cx="8138160" cy="457200"/>
          </a:xfrm>
          <a:prstGeom prst="roundRect">
            <a:avLst>
              <a:gd name="adj" fmla="val 30000"/>
            </a:avLst>
          </a:prstGeom>
          <a:solidFill>
            <a:srgbClr val="F3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ounded Rectangle 4"/>
          <p:cNvSpPr/>
          <p:nvPr/>
        </p:nvSpPr>
        <p:spPr>
          <a:xfrm>
            <a:off x="502920" y="1325880"/>
            <a:ext cx="1005840" cy="457200"/>
          </a:xfrm>
          <a:prstGeom prst="roundRect">
            <a:avLst>
              <a:gd name="adj" fmla="val 50000"/>
            </a:avLst>
          </a:prstGeom>
          <a:solidFill>
            <a:srgbClr val="0E6B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45920" y="1325880"/>
            <a:ext cx="694944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2400" b="0" i="0">
                <a:solidFill>
                  <a:srgbClr val="13262B"/>
                </a:solidFill>
                <a:latin typeface="Courier New"/>
              </a:rPr>
              <a:t>lmer(y ~ x + (1 | site), data = df)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874519"/>
            <a:ext cx="8138160" cy="786384"/>
          </a:xfrm>
          <a:prstGeom prst="roundRect">
            <a:avLst>
              <a:gd name="adj" fmla="val 30000"/>
            </a:avLst>
          </a:prstGeom>
          <a:solidFill>
            <a:srgbClr val="FDF3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502920" y="1874519"/>
            <a:ext cx="1005840" cy="786384"/>
          </a:xfrm>
          <a:prstGeom prst="roundRect">
            <a:avLst>
              <a:gd name="adj" fmla="val 50000"/>
            </a:avLst>
          </a:prstGeom>
          <a:solidFill>
            <a:srgbClr val="F4B3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2000" b="1" i="0">
                <a:solidFill>
                  <a:srgbClr val="13262B"/>
                </a:solidFill>
                <a:latin typeface="Calibri"/>
              </a:rPr>
              <a:t>Julia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1874519"/>
            <a:ext cx="6949440" cy="78638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2400" b="0" i="0">
                <a:solidFill>
                  <a:srgbClr val="13262B"/>
                </a:solidFill>
                <a:latin typeface="Courier New"/>
              </a:rPr>
              <a:t>fit(MixedModel,</a:t>
            </a:r>
          </a:p>
          <a:p>
            <a:pPr algn="l"/>
            <a:r>
              <a:rPr sz="2400" b="0" i="0">
                <a:solidFill>
                  <a:srgbClr val="13262B"/>
                </a:solidFill>
                <a:latin typeface="Courier New"/>
              </a:rPr>
              <a:t>  @formula(y ~ x + (1 | site)), df)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3017520"/>
            <a:ext cx="8138160" cy="8229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2200" b="0" i="0">
                <a:solidFill>
                  <a:srgbClr val="13262B"/>
                </a:solidFill>
                <a:latin typeface="Calibri"/>
              </a:rPr>
              <a:t>y ~ x + (1 | site) means the same thing in both: x predicts y, and each site gets its own baseline.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4224528"/>
            <a:ext cx="8138160" cy="4114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2000" b="0" i="1">
                <a:solidFill>
                  <a:srgbClr val="0E6B7C"/>
                </a:solidFill>
                <a:latin typeface="Calibri"/>
              </a:rPr>
              <a:t>Same estimates as R on simulated data.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8138160" cy="7772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2800" b="0" i="0">
                <a:solidFill>
                  <a:srgbClr val="13262B"/>
                </a:solidFill>
                <a:latin typeface="Cambria"/>
              </a:rPr>
              <a:t>Two honest costs: slow first calls, fewer packages</a:t>
            </a:r>
          </a:p>
        </p:txBody>
      </p:sp>
      <p:sp>
        <p:nvSpPr>
          <p:cNvPr id="3" name="Oval 2"/>
          <p:cNvSpPr/>
          <p:nvPr/>
        </p:nvSpPr>
        <p:spPr>
          <a:xfrm>
            <a:off x="502920" y="1097280"/>
            <a:ext cx="457200" cy="457200"/>
          </a:xfrm>
          <a:prstGeom prst="ellipse">
            <a:avLst/>
          </a:prstGeom>
          <a:solidFill>
            <a:srgbClr val="E45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1197864"/>
            <a:ext cx="256032" cy="25603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97280" y="1097280"/>
            <a:ext cx="475488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2000" b="1" i="0">
                <a:solidFill>
                  <a:srgbClr val="13262B"/>
                </a:solidFill>
                <a:latin typeface="Calibri"/>
              </a:rPr>
              <a:t>The first run is slow: Julia translates it first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737360"/>
            <a:ext cx="1673352" cy="2148840"/>
          </a:xfrm>
          <a:prstGeom prst="roundRect">
            <a:avLst>
              <a:gd name="adj" fmla="val 10000"/>
            </a:avLst>
          </a:prstGeom>
          <a:solidFill>
            <a:srgbClr val="F3F8F9"/>
          </a:solidFill>
          <a:ln>
            <a:noFill/>
          </a:ln>
          <a:effectLst>
            <a:outerShdw blurRad="76200" dist="25400" dir="5400000" algn="bl" rotWithShape="0">
              <a:srgbClr val="9FB6BC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594360" y="1828800"/>
            <a:ext cx="1490472" cy="685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3600" b="1" i="0">
                <a:solidFill>
                  <a:srgbClr val="E4572E"/>
                </a:solidFill>
                <a:latin typeface="Cambria"/>
              </a:rPr>
              <a:t>37 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514600"/>
            <a:ext cx="1490472" cy="1325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2000" b="0" i="0">
                <a:solidFill>
                  <a:srgbClr val="13262B"/>
                </a:solidFill>
                <a:latin typeface="Calibri"/>
              </a:rPr>
              <a:t>once, after you install DataFrames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313432" y="1737360"/>
            <a:ext cx="1673352" cy="2148840"/>
          </a:xfrm>
          <a:prstGeom prst="roundRect">
            <a:avLst>
              <a:gd name="adj" fmla="val 10000"/>
            </a:avLst>
          </a:prstGeom>
          <a:solidFill>
            <a:srgbClr val="F3F8F9"/>
          </a:solidFill>
          <a:ln>
            <a:noFill/>
          </a:ln>
          <a:effectLst>
            <a:outerShdw blurRad="76200" dist="25400" dir="5400000" algn="bl" rotWithShape="0">
              <a:srgbClr val="9FB6BC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2404872" y="1828800"/>
            <a:ext cx="1490472" cy="685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3600" b="1" i="0">
                <a:solidFill>
                  <a:srgbClr val="0E6B7C"/>
                </a:solidFill>
                <a:latin typeface="Cambria"/>
              </a:rPr>
              <a:t>~1 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04872" y="2514600"/>
            <a:ext cx="1490472" cy="1325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2000" b="0" i="0">
                <a:solidFill>
                  <a:srgbClr val="13262B"/>
                </a:solidFill>
                <a:latin typeface="Calibri"/>
              </a:rPr>
              <a:t>to load it in each new session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123944" y="1737360"/>
            <a:ext cx="1673352" cy="2148840"/>
          </a:xfrm>
          <a:prstGeom prst="roundRect">
            <a:avLst>
              <a:gd name="adj" fmla="val 10000"/>
            </a:avLst>
          </a:prstGeom>
          <a:solidFill>
            <a:srgbClr val="F3F8F9"/>
          </a:solidFill>
          <a:ln>
            <a:noFill/>
          </a:ln>
          <a:effectLst>
            <a:outerShdw blurRad="76200" dist="25400" dir="5400000" algn="bl" rotWithShape="0">
              <a:srgbClr val="9FB6BC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4215383" y="1828800"/>
            <a:ext cx="1490472" cy="685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3600" b="1" i="0">
                <a:solidFill>
                  <a:srgbClr val="0E6B7C"/>
                </a:solidFill>
                <a:latin typeface="Cambria"/>
              </a:rPr>
              <a:t>18 ms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15383" y="2514600"/>
            <a:ext cx="1490472" cy="1325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2000" b="0" i="0">
                <a:solidFill>
                  <a:srgbClr val="13262B"/>
                </a:solidFill>
                <a:latin typeface="Calibri"/>
              </a:rPr>
              <a:t>first table summary;</a:t>
            </a:r>
          </a:p>
          <a:p>
            <a:pPr algn="ctr"/>
            <a:r>
              <a:rPr sz="2000" b="0" i="0">
                <a:solidFill>
                  <a:srgbClr val="13262B"/>
                </a:solidFill>
                <a:latin typeface="Calibri"/>
              </a:rPr>
              <a:t>then 0.3 ms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035040" y="1097280"/>
            <a:ext cx="2606040" cy="2788920"/>
          </a:xfrm>
          <a:prstGeom prst="roundRect">
            <a:avLst>
              <a:gd name="adj" fmla="val 8000"/>
            </a:avLst>
          </a:prstGeom>
          <a:solidFill>
            <a:srgbClr val="FDF3DA"/>
          </a:solidFill>
          <a:ln>
            <a:noFill/>
          </a:ln>
          <a:effectLst>
            <a:outerShdw blurRad="76200" dist="25400" dir="5400000" algn="bl" rotWithShape="0">
              <a:srgbClr val="9FB6BC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Oval 15"/>
          <p:cNvSpPr/>
          <p:nvPr/>
        </p:nvSpPr>
        <p:spPr>
          <a:xfrm>
            <a:off x="6217920" y="1261872"/>
            <a:ext cx="457200" cy="457200"/>
          </a:xfrm>
          <a:prstGeom prst="ellipse">
            <a:avLst/>
          </a:prstGeom>
          <a:solidFill>
            <a:srgbClr val="F4B3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18504" y="1362456"/>
            <a:ext cx="256032" cy="256032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6217920" y="1828800"/>
            <a:ext cx="2286000" cy="4114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2000" b="1" i="0">
                <a:solidFill>
                  <a:srgbClr val="13262B"/>
                </a:solidFill>
                <a:latin typeface="Calibri"/>
              </a:rPr>
              <a:t>Fewer packages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0" y="2286000"/>
            <a:ext cx="2286000" cy="1508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2000" b="0" i="0">
                <a:solidFill>
                  <a:srgbClr val="13262B"/>
                </a:solidFill>
                <a:latin typeface="Calibri"/>
              </a:rPr>
              <a:t>R has more packages. RCall.jl lets Julia use R when you must.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4114800"/>
            <a:ext cx="8138160" cy="320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400" b="0" i="0">
                <a:solidFill>
                  <a:srgbClr val="5F7378"/>
                </a:solidFill>
                <a:latin typeface="Calibri"/>
              </a:rPr>
              <a:t>Measured on the same Mac Studio, 24 Sep 2026, Julia 1.10.12.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8138160" cy="7772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2800" b="0" i="0">
                <a:solidFill>
                  <a:srgbClr val="13262B"/>
                </a:solidFill>
                <a:latin typeface="Cambria"/>
              </a:rPr>
              <a:t>Where to learn, and you do not have to leave R</a:t>
            </a:r>
          </a:p>
        </p:txBody>
      </p:sp>
      <p:sp>
        <p:nvSpPr>
          <p:cNvPr id="3" name="Oval 2"/>
          <p:cNvSpPr/>
          <p:nvPr/>
        </p:nvSpPr>
        <p:spPr>
          <a:xfrm>
            <a:off x="502920" y="1188720"/>
            <a:ext cx="502920" cy="502920"/>
          </a:xfrm>
          <a:prstGeom prst="ellipse">
            <a:avLst/>
          </a:prstGeom>
          <a:solidFill>
            <a:srgbClr val="0E6B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3562" y="1299362"/>
            <a:ext cx="281635" cy="28163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188720" y="1143000"/>
            <a:ext cx="4160520" cy="4114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2200" b="1" i="0">
                <a:solidFill>
                  <a:srgbClr val="13262B"/>
                </a:solidFill>
                <a:latin typeface="Calibri"/>
              </a:rPr>
              <a:t>docs.julialang.org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1572768"/>
            <a:ext cx="416052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2000" b="0" i="0">
                <a:solidFill>
                  <a:srgbClr val="5F7378"/>
                </a:solidFill>
                <a:latin typeface="Calibri"/>
              </a:rPr>
              <a:t>the official manual</a:t>
            </a:r>
          </a:p>
        </p:txBody>
      </p:sp>
      <p:sp>
        <p:nvSpPr>
          <p:cNvPr id="7" name="Oval 6"/>
          <p:cNvSpPr/>
          <p:nvPr/>
        </p:nvSpPr>
        <p:spPr>
          <a:xfrm>
            <a:off x="502920" y="2212848"/>
            <a:ext cx="502920" cy="502920"/>
          </a:xfrm>
          <a:prstGeom prst="ellipse">
            <a:avLst/>
          </a:prstGeom>
          <a:solidFill>
            <a:srgbClr val="0E6B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3562" y="2323490"/>
            <a:ext cx="281635" cy="28163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188720" y="2167128"/>
            <a:ext cx="4160520" cy="4114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2200" b="1" i="0">
                <a:solidFill>
                  <a:srgbClr val="13262B"/>
                </a:solidFill>
                <a:latin typeface="Calibri"/>
              </a:rPr>
              <a:t>Julia Data Science, a free book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2596896"/>
            <a:ext cx="416052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600" b="0" i="0">
                <a:solidFill>
                  <a:srgbClr val="0E6B7C"/>
                </a:solidFill>
                <a:latin typeface="Calibri"/>
              </a:rPr>
              <a:t>juliadatascience.github.io/JuliaDataScience</a:t>
            </a:r>
          </a:p>
        </p:txBody>
      </p:sp>
      <p:sp>
        <p:nvSpPr>
          <p:cNvPr id="11" name="Oval 10"/>
          <p:cNvSpPr/>
          <p:nvPr/>
        </p:nvSpPr>
        <p:spPr>
          <a:xfrm>
            <a:off x="502920" y="3236976"/>
            <a:ext cx="502920" cy="502920"/>
          </a:xfrm>
          <a:prstGeom prst="ellipse">
            <a:avLst/>
          </a:prstGeom>
          <a:solidFill>
            <a:srgbClr val="0E6B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3562" y="3347618"/>
            <a:ext cx="281635" cy="281635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188720" y="3191256"/>
            <a:ext cx="4160520" cy="4114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2200" b="1" i="0">
                <a:solidFill>
                  <a:srgbClr val="13262B"/>
                </a:solidFill>
                <a:latin typeface="Calibri"/>
              </a:rPr>
              <a:t>discourse.julialang.org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3621024"/>
            <a:ext cx="416052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2000" b="0" i="0">
                <a:solidFill>
                  <a:srgbClr val="5F7378"/>
                </a:solidFill>
                <a:latin typeface="Calibri"/>
              </a:rPr>
              <a:t>a friendly forum for questions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0" y="1097280"/>
            <a:ext cx="3154680" cy="3017520"/>
          </a:xfrm>
          <a:prstGeom prst="roundRect">
            <a:avLst>
              <a:gd name="adj" fmla="val 8000"/>
            </a:avLst>
          </a:prstGeom>
          <a:solidFill>
            <a:srgbClr val="FDF3DA"/>
          </a:solidFill>
          <a:ln>
            <a:noFill/>
          </a:ln>
          <a:effectLst>
            <a:outerShdw blurRad="76200" dist="25400" dir="5400000" algn="bl" rotWithShape="0">
              <a:srgbClr val="9FB6BC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Oval 15"/>
          <p:cNvSpPr/>
          <p:nvPr/>
        </p:nvSpPr>
        <p:spPr>
          <a:xfrm>
            <a:off x="5669280" y="1261872"/>
            <a:ext cx="457200" cy="457200"/>
          </a:xfrm>
          <a:prstGeom prst="ellipse">
            <a:avLst/>
          </a:prstGeom>
          <a:solidFill>
            <a:srgbClr val="F4B3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69864" y="1362456"/>
            <a:ext cx="256032" cy="256032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6263640" y="1344168"/>
            <a:ext cx="2286000" cy="2926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600" b="1" i="0" spc="200">
                <a:solidFill>
                  <a:srgbClr val="8A5A00"/>
                </a:solidFill>
                <a:latin typeface="Calibri"/>
              </a:rPr>
              <a:t>KEEP R AND PYTHON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0" y="1920240"/>
            <a:ext cx="2834640" cy="4114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2200" b="1" i="0">
                <a:solidFill>
                  <a:srgbClr val="8A5A00"/>
                </a:solidFill>
                <a:latin typeface="Calibri"/>
              </a:rPr>
              <a:t>RCall.jl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0" y="2331720"/>
            <a:ext cx="2834640" cy="502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2000" b="0" i="0">
                <a:solidFill>
                  <a:srgbClr val="13262B"/>
                </a:solidFill>
                <a:latin typeface="Calibri"/>
              </a:rPr>
              <a:t>run R code from Julia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69280" y="2926080"/>
            <a:ext cx="2834640" cy="4114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2200" b="1" i="0">
                <a:solidFill>
                  <a:srgbClr val="8A5A00"/>
                </a:solidFill>
                <a:latin typeface="Calibri"/>
              </a:rPr>
              <a:t>PythonCall.jl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0" y="3337560"/>
            <a:ext cx="2834640" cy="502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2000" b="0" i="0">
                <a:solidFill>
                  <a:srgbClr val="13262B"/>
                </a:solidFill>
                <a:latin typeface="Calibri"/>
              </a:rPr>
              <a:t>the same for Python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8138160" cy="7772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2800" b="0" i="0">
                <a:solidFill>
                  <a:srgbClr val="13262B"/>
                </a:solidFill>
                <a:latin typeface="Cambria"/>
              </a:rPr>
              <a:t>We made a game: check a report with real Julia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097280"/>
            <a:ext cx="8138160" cy="320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2000" b="1" i="0">
                <a:solidFill>
                  <a:srgbClr val="13262B"/>
                </a:solidFill>
                <a:latin typeface="Cambria"/>
              </a:rPr>
              <a:t>Julia Time</a:t>
            </a:r>
            <a:r>
              <a:rPr sz="1800" b="0" i="1">
                <a:solidFill>
                  <a:srgbClr val="0E6B7C"/>
                </a:solidFill>
                <a:latin typeface="Cambria"/>
              </a:rPr>
              <a:t>  ·  The Case of the Missing Fleas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444752"/>
            <a:ext cx="8138160" cy="5943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800" b="0" i="0">
                <a:solidFill>
                  <a:srgbClr val="13262B"/>
                </a:solidFill>
                <a:latin typeface="Calibri"/>
              </a:rPr>
              <a:t>Toto's report says the lab's springtails are dying out. You check it with the notebook.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2103120"/>
            <a:ext cx="2560320" cy="621792"/>
          </a:xfrm>
          <a:prstGeom prst="roundRect">
            <a:avLst>
              <a:gd name="adj" fmla="val 12000"/>
            </a:avLst>
          </a:prstGeom>
          <a:solidFill>
            <a:srgbClr val="F3F8F9"/>
          </a:solidFill>
          <a:ln>
            <a:noFill/>
          </a:ln>
          <a:effectLst>
            <a:outerShdw blurRad="76200" dist="25400" dir="5400000" algn="bl" rotWithShape="0">
              <a:srgbClr val="9FB6BC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400" b="1" i="0">
                <a:solidFill>
                  <a:srgbClr val="13262B"/>
                </a:solidFill>
                <a:latin typeface="Calibri"/>
              </a:rPr>
              <a:t>1 · The report and the notebook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172968" y="2103120"/>
            <a:ext cx="2560320" cy="621792"/>
          </a:xfrm>
          <a:prstGeom prst="roundRect">
            <a:avLst>
              <a:gd name="adj" fmla="val 12000"/>
            </a:avLst>
          </a:prstGeom>
          <a:solidFill>
            <a:srgbClr val="F3F8F9"/>
          </a:solidFill>
          <a:ln>
            <a:noFill/>
          </a:ln>
          <a:effectLst>
            <a:outerShdw blurRad="76200" dist="25400" dir="5400000" algn="bl" rotWithShape="0">
              <a:srgbClr val="9FB6BC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400" b="1" i="0">
                <a:solidFill>
                  <a:srgbClr val="13262B"/>
                </a:solidFill>
                <a:latin typeface="Calibri"/>
              </a:rPr>
              <a:t>2 · Count by tray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843016" y="2103120"/>
            <a:ext cx="2560320" cy="621792"/>
          </a:xfrm>
          <a:prstGeom prst="roundRect">
            <a:avLst>
              <a:gd name="adj" fmla="val 12000"/>
            </a:avLst>
          </a:prstGeom>
          <a:solidFill>
            <a:srgbClr val="F3F8F9"/>
          </a:solidFill>
          <a:ln>
            <a:noFill/>
          </a:ln>
          <a:effectLst>
            <a:outerShdw blurRad="76200" dist="25400" dir="5400000" algn="bl" rotWithShape="0">
              <a:srgbClr val="9FB6BC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400" b="1" i="0">
                <a:solidFill>
                  <a:srgbClr val="13262B"/>
                </a:solidFill>
                <a:latin typeface="Calibri"/>
              </a:rPr>
              <a:t>3 · Where did the 0 come from?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2834639"/>
            <a:ext cx="2560320" cy="621792"/>
          </a:xfrm>
          <a:prstGeom prst="roundRect">
            <a:avLst>
              <a:gd name="adj" fmla="val 12000"/>
            </a:avLst>
          </a:prstGeom>
          <a:solidFill>
            <a:srgbClr val="F3F8F9"/>
          </a:solidFill>
          <a:ln>
            <a:noFill/>
          </a:ln>
          <a:effectLst>
            <a:outerShdw blurRad="76200" dist="25400" dir="5400000" algn="bl" rotWithShape="0">
              <a:srgbClr val="9FB6BC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400" b="1" i="0">
                <a:solidFill>
                  <a:srgbClr val="13262B"/>
                </a:solidFill>
                <a:latin typeface="Calibri"/>
              </a:rPr>
              <a:t>4 · Plan a fair recheck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172968" y="2834639"/>
            <a:ext cx="2560320" cy="621792"/>
          </a:xfrm>
          <a:prstGeom prst="roundRect">
            <a:avLst>
              <a:gd name="adj" fmla="val 12000"/>
            </a:avLst>
          </a:prstGeom>
          <a:solidFill>
            <a:srgbClr val="F3F8F9"/>
          </a:solidFill>
          <a:ln>
            <a:noFill/>
          </a:ln>
          <a:effectLst>
            <a:outerShdw blurRad="76200" dist="25400" dir="5400000" algn="bl" rotWithShape="0">
              <a:srgbClr val="9FB6BC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400" b="1" i="0">
                <a:solidFill>
                  <a:srgbClr val="13262B"/>
                </a:solidFill>
                <a:latin typeface="Calibri"/>
              </a:rPr>
              <a:t>5 · What would plain chance give?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843016" y="2834639"/>
            <a:ext cx="2560320" cy="621792"/>
          </a:xfrm>
          <a:prstGeom prst="roundRect">
            <a:avLst>
              <a:gd name="adj" fmla="val 12000"/>
            </a:avLst>
          </a:prstGeom>
          <a:solidFill>
            <a:srgbClr val="F3F8F9"/>
          </a:solidFill>
          <a:ln>
            <a:noFill/>
          </a:ln>
          <a:effectLst>
            <a:outerShdw blurRad="76200" dist="25400" dir="5400000" algn="bl" rotWithShape="0">
              <a:srgbClr val="9FB6BC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400" b="1" i="0">
                <a:solidFill>
                  <a:srgbClr val="13262B"/>
                </a:solidFill>
                <a:latin typeface="Calibri"/>
              </a:rPr>
              <a:t>6 · Are the springtails dying out?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3584448"/>
            <a:ext cx="8138160" cy="320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800" b="0" i="1">
                <a:solidFill>
                  <a:srgbClr val="5F7378"/>
                </a:solidFill>
                <a:latin typeface="Calibri"/>
              </a:rPr>
              <a:t>Every step shows the same move in R and Python.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3931920"/>
            <a:ext cx="813816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500" b="0" i="0">
                <a:solidFill>
                  <a:srgbClr val="13262B"/>
                </a:solidFill>
                <a:latin typeface="Calibri"/>
              </a:rPr>
              <a:t>Free; runs on your own laptop, in the browser.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4224528"/>
            <a:ext cx="813816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300" b="0" i="1">
                <a:solidFill>
                  <a:srgbClr val="5F7378"/>
                </a:solidFill>
                <a:latin typeface="Calibri"/>
              </a:rPr>
              <a:t>Cast: Itchy the mentor, Toto, Momo the sceptic, and Eddie.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8138160" cy="7772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2800" b="0" i="0">
                <a:solidFill>
                  <a:srgbClr val="13262B"/>
                </a:solidFill>
                <a:latin typeface="Cambria"/>
              </a:rPr>
              <a:t>Three steps to play; after that, the code is the move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1097280"/>
            <a:ext cx="2560320" cy="1828800"/>
          </a:xfrm>
          <a:prstGeom prst="roundRect">
            <a:avLst>
              <a:gd name="adj" fmla="val 8000"/>
            </a:avLst>
          </a:prstGeom>
          <a:solidFill>
            <a:srgbClr val="F3F8F9"/>
          </a:solidFill>
          <a:ln>
            <a:noFill/>
          </a:ln>
          <a:effectLst>
            <a:outerShdw blurRad="76200" dist="25400" dir="5400000" algn="bl" rotWithShape="0">
              <a:srgbClr val="9FB6BC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Oval 3"/>
          <p:cNvSpPr/>
          <p:nvPr/>
        </p:nvSpPr>
        <p:spPr>
          <a:xfrm>
            <a:off x="685800" y="1261872"/>
            <a:ext cx="502920" cy="502920"/>
          </a:xfrm>
          <a:prstGeom prst="ellipse">
            <a:avLst/>
          </a:prstGeom>
          <a:solidFill>
            <a:srgbClr val="0E6B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6442" y="1372514"/>
            <a:ext cx="281635" cy="28163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85800" y="1828800"/>
            <a:ext cx="2240280" cy="4114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2000" b="1" i="0">
                <a:solidFill>
                  <a:srgbClr val="13262B"/>
                </a:solidFill>
                <a:latin typeface="Calibri"/>
              </a:rPr>
              <a:t>1  Download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212848"/>
            <a:ext cx="2240280" cy="685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2000" b="0" i="0">
                <a:solidFill>
                  <a:srgbClr val="5F7378"/>
                </a:solidFill>
                <a:latin typeface="Calibri"/>
              </a:rPr>
              <a:t>the ZIP from the release page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91839" y="1097280"/>
            <a:ext cx="2560320" cy="1828800"/>
          </a:xfrm>
          <a:prstGeom prst="roundRect">
            <a:avLst>
              <a:gd name="adj" fmla="val 8000"/>
            </a:avLst>
          </a:prstGeom>
          <a:solidFill>
            <a:srgbClr val="F3F8F9"/>
          </a:solidFill>
          <a:ln>
            <a:noFill/>
          </a:ln>
          <a:effectLst>
            <a:outerShdw blurRad="76200" dist="25400" dir="5400000" algn="bl" rotWithShape="0">
              <a:srgbClr val="9FB6BC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Oval 8"/>
          <p:cNvSpPr/>
          <p:nvPr/>
        </p:nvSpPr>
        <p:spPr>
          <a:xfrm>
            <a:off x="3474720" y="1261872"/>
            <a:ext cx="502920" cy="502920"/>
          </a:xfrm>
          <a:prstGeom prst="ellipse">
            <a:avLst/>
          </a:prstGeom>
          <a:solidFill>
            <a:srgbClr val="F4B3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85362" y="1372514"/>
            <a:ext cx="281635" cy="281635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3474720" y="1828800"/>
            <a:ext cx="2240280" cy="4114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2000" b="1" i="0">
                <a:solidFill>
                  <a:srgbClr val="13262B"/>
                </a:solidFill>
                <a:latin typeface="Calibri"/>
              </a:rPr>
              <a:t>2  Install Julia 1.10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74720" y="2212848"/>
            <a:ext cx="2240280" cy="685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2000" b="0" i="0">
                <a:solidFill>
                  <a:srgbClr val="5F7378"/>
                </a:solidFill>
                <a:latin typeface="Calibri"/>
              </a:rPr>
              <a:t>the long-term support version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80759" y="1097280"/>
            <a:ext cx="2560320" cy="1828800"/>
          </a:xfrm>
          <a:prstGeom prst="roundRect">
            <a:avLst>
              <a:gd name="adj" fmla="val 8000"/>
            </a:avLst>
          </a:prstGeom>
          <a:solidFill>
            <a:srgbClr val="F3F8F9"/>
          </a:solidFill>
          <a:ln>
            <a:noFill/>
          </a:ln>
          <a:effectLst>
            <a:outerShdw blurRad="76200" dist="25400" dir="5400000" algn="bl" rotWithShape="0">
              <a:srgbClr val="9FB6BC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Oval 13"/>
          <p:cNvSpPr/>
          <p:nvPr/>
        </p:nvSpPr>
        <p:spPr>
          <a:xfrm>
            <a:off x="6263640" y="1261872"/>
            <a:ext cx="502920" cy="502920"/>
          </a:xfrm>
          <a:prstGeom prst="ellipse">
            <a:avLst/>
          </a:prstGeom>
          <a:solidFill>
            <a:srgbClr val="E45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74282" y="1372514"/>
            <a:ext cx="281635" cy="281635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263640" y="1828800"/>
            <a:ext cx="2240280" cy="4114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2000" b="1" i="0">
                <a:solidFill>
                  <a:srgbClr val="13262B"/>
                </a:solidFill>
                <a:latin typeface="Calibri"/>
              </a:rPr>
              <a:t>3  Double-click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63640" y="2212848"/>
            <a:ext cx="2240280" cy="685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2000" b="0" i="0">
                <a:solidFill>
                  <a:srgbClr val="5F7378"/>
                </a:solidFill>
                <a:latin typeface="Calibri"/>
              </a:rPr>
              <a:t>Play-Julia-Time, for Mac or Windows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3154680"/>
            <a:ext cx="8138160" cy="4114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2200" b="0" i="0">
                <a:solidFill>
                  <a:srgbClr val="0E6B7C"/>
                </a:solidFill>
                <a:latin typeface="Courier New"/>
              </a:rPr>
              <a:t>github.com/itchyshin/Julia-Time/releases/latest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3749039"/>
            <a:ext cx="8138160" cy="5486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3200" b="0" i="1">
                <a:solidFill>
                  <a:srgbClr val="13262B"/>
                </a:solidFill>
                <a:latin typeface="Cambria"/>
              </a:rPr>
              <a:t>The code is the move.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4297680"/>
            <a:ext cx="813816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2000" b="0" i="0">
                <a:solidFill>
                  <a:srgbClr val="5F7378"/>
                </a:solidFill>
                <a:latin typeface="Calibri"/>
              </a:rPr>
              <a:t>No points, no badges: working code moves the case forward.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323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60120" y="640080"/>
            <a:ext cx="457200" cy="457200"/>
          </a:xfrm>
          <a:prstGeom prst="ellipse">
            <a:avLst/>
          </a:prstGeom>
          <a:solidFill>
            <a:srgbClr val="6CC0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Oval 2"/>
          <p:cNvSpPr/>
          <p:nvPr/>
        </p:nvSpPr>
        <p:spPr>
          <a:xfrm>
            <a:off x="640080" y="1188720"/>
            <a:ext cx="457200" cy="457200"/>
          </a:xfrm>
          <a:prstGeom prst="ellipse">
            <a:avLst/>
          </a:prstGeom>
          <a:solidFill>
            <a:srgbClr val="E45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Oval 3"/>
          <p:cNvSpPr/>
          <p:nvPr/>
        </p:nvSpPr>
        <p:spPr>
          <a:xfrm>
            <a:off x="1280160" y="1188720"/>
            <a:ext cx="457200" cy="457200"/>
          </a:xfrm>
          <a:prstGeom prst="ellipse">
            <a:avLst/>
          </a:prstGeom>
          <a:solidFill>
            <a:srgbClr val="F4B3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02920" y="1874519"/>
            <a:ext cx="8138160" cy="7315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3400" b="0" i="0">
                <a:solidFill>
                  <a:srgbClr val="FFFFFF"/>
                </a:solidFill>
                <a:latin typeface="Cambria"/>
              </a:rPr>
              <a:t>Thank you for sitting through my first call.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606040"/>
            <a:ext cx="8138160" cy="6400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3000" b="0" i="1">
                <a:solidFill>
                  <a:srgbClr val="F4B324"/>
                </a:solidFill>
                <a:latin typeface="Cambria"/>
              </a:rPr>
              <a:t>The next one will be faster.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3703320"/>
            <a:ext cx="8138160" cy="4114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2000" b="0" i="0">
                <a:solidFill>
                  <a:srgbClr val="DCEBEE"/>
                </a:solidFill>
                <a:latin typeface="Calibri"/>
              </a:rPr>
              <a:t>Write it like R. Run it like C.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4160520"/>
            <a:ext cx="813816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600" b="0" i="0">
                <a:solidFill>
                  <a:srgbClr val="A9C6CC"/>
                </a:solidFill>
                <a:latin typeface="Calibri"/>
              </a:rPr>
              <a:t>github.com/itchyshin/Julia-Time · @itchyshin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Julia Time: The Case of the Missing Fleas</dc:title>
  <dc:subject>PptxGenJS Presentation</dc:subject>
  <dc:creator>Shinichi Nakagawa</dc:creator>
  <cp:lastModifiedBy>Shinichi Nakagawa</cp:lastModifiedBy>
  <cp:revision>1</cp:revision>
  <dcterms:created xsi:type="dcterms:W3CDTF">2026-09-14T23:49:29Z</dcterms:created>
  <dcterms:modified xsi:type="dcterms:W3CDTF">2026-09-14T23:49:29Z</dcterms:modified>
</cp:coreProperties>
</file>